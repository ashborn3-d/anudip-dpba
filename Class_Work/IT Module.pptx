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58" r:id="rId6"/>
    <p:sldId id="260" r:id="rId7"/>
    <p:sldId id="264"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 id="28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3740980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2718788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1644007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E78EF3-31DB-473E-957B-8AF7A54435F9}"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3245556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E78EF3-31DB-473E-957B-8AF7A54435F9}"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872716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E78EF3-31DB-473E-957B-8AF7A54435F9}"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2865835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E78EF3-31DB-473E-957B-8AF7A54435F9}" type="datetimeFigureOut">
              <a:rPr lang="en-IN" smtClean="0"/>
              <a:t>20-02-2026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1179237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E78EF3-31DB-473E-957B-8AF7A54435F9}"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3720429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E78EF3-31DB-473E-957B-8AF7A54435F9}"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36121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1246641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9296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1984821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72631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1387080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34058323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78EF3-31DB-473E-957B-8AF7A54435F9}"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079967-94F3-4847-B2D5-F1DDCDB1E1F4}" type="slidenum">
              <a:rPr lang="en-IN" smtClean="0"/>
              <a:t>‹#›</a:t>
            </a:fld>
            <a:endParaRPr lang="en-IN"/>
          </a:p>
        </p:txBody>
      </p:sp>
    </p:spTree>
    <p:extLst>
      <p:ext uri="{BB962C8B-B14F-4D97-AF65-F5344CB8AC3E}">
        <p14:creationId xmlns:p14="http://schemas.microsoft.com/office/powerpoint/2010/main" val="116614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3E78EF3-31DB-473E-957B-8AF7A54435F9}" type="datetimeFigureOut">
              <a:rPr lang="en-IN" smtClean="0"/>
              <a:t>20-02-2026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9079967-94F3-4847-B2D5-F1DDCDB1E1F4}" type="slidenum">
              <a:rPr lang="en-IN" smtClean="0"/>
              <a:t>‹#›</a:t>
            </a:fld>
            <a:endParaRPr lang="en-IN"/>
          </a:p>
        </p:txBody>
      </p:sp>
    </p:spTree>
    <p:extLst>
      <p:ext uri="{BB962C8B-B14F-4D97-AF65-F5344CB8AC3E}">
        <p14:creationId xmlns:p14="http://schemas.microsoft.com/office/powerpoint/2010/main" val="1758629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DFFB4D-C749-1BFA-C813-501CCE01EA87}"/>
              </a:ext>
            </a:extLst>
          </p:cNvPr>
          <p:cNvSpPr txBox="1"/>
          <p:nvPr/>
        </p:nvSpPr>
        <p:spPr>
          <a:xfrm>
            <a:off x="1230085" y="3909536"/>
            <a:ext cx="6030686" cy="584775"/>
          </a:xfrm>
          <a:prstGeom prst="rect">
            <a:avLst/>
          </a:prstGeom>
          <a:noFill/>
        </p:spPr>
        <p:txBody>
          <a:bodyPr wrap="square" rtlCol="0">
            <a:spAutoFit/>
          </a:bodyPr>
          <a:lstStyle/>
          <a:p>
            <a:r>
              <a:rPr lang="en-IN" sz="3200" dirty="0"/>
              <a:t>IT MODULE</a:t>
            </a:r>
          </a:p>
        </p:txBody>
      </p:sp>
      <p:sp>
        <p:nvSpPr>
          <p:cNvPr id="5" name="TextBox 4">
            <a:extLst>
              <a:ext uri="{FF2B5EF4-FFF2-40B4-BE49-F238E27FC236}">
                <a16:creationId xmlns:a16="http://schemas.microsoft.com/office/drawing/2014/main" id="{2D2C601E-B993-8382-0602-43EFA295B4F7}"/>
              </a:ext>
            </a:extLst>
          </p:cNvPr>
          <p:cNvSpPr txBox="1"/>
          <p:nvPr/>
        </p:nvSpPr>
        <p:spPr>
          <a:xfrm>
            <a:off x="1153885" y="2209800"/>
            <a:ext cx="4942115" cy="584775"/>
          </a:xfrm>
          <a:prstGeom prst="rect">
            <a:avLst/>
          </a:prstGeom>
          <a:noFill/>
        </p:spPr>
        <p:txBody>
          <a:bodyPr wrap="square" rtlCol="0">
            <a:spAutoFit/>
          </a:bodyPr>
          <a:lstStyle/>
          <a:p>
            <a:r>
              <a:rPr lang="en-IN" sz="3200" dirty="0"/>
              <a:t>Priyanshu Dutta</a:t>
            </a:r>
          </a:p>
        </p:txBody>
      </p:sp>
      <p:sp>
        <p:nvSpPr>
          <p:cNvPr id="6" name="TextBox 5">
            <a:extLst>
              <a:ext uri="{FF2B5EF4-FFF2-40B4-BE49-F238E27FC236}">
                <a16:creationId xmlns:a16="http://schemas.microsoft.com/office/drawing/2014/main" id="{2F8A12E0-7D7E-42DF-0B7D-DCE6BA51FB72}"/>
              </a:ext>
            </a:extLst>
          </p:cNvPr>
          <p:cNvSpPr txBox="1"/>
          <p:nvPr/>
        </p:nvSpPr>
        <p:spPr>
          <a:xfrm>
            <a:off x="1153885" y="3059668"/>
            <a:ext cx="4942115" cy="584775"/>
          </a:xfrm>
          <a:prstGeom prst="rect">
            <a:avLst/>
          </a:prstGeom>
          <a:noFill/>
        </p:spPr>
        <p:txBody>
          <a:bodyPr wrap="square" rtlCol="0">
            <a:spAutoFit/>
          </a:bodyPr>
          <a:lstStyle/>
          <a:p>
            <a:r>
              <a:rPr lang="en-IN" sz="3200" dirty="0"/>
              <a:t>AF05103859</a:t>
            </a:r>
          </a:p>
        </p:txBody>
      </p:sp>
    </p:spTree>
    <p:extLst>
      <p:ext uri="{BB962C8B-B14F-4D97-AF65-F5344CB8AC3E}">
        <p14:creationId xmlns:p14="http://schemas.microsoft.com/office/powerpoint/2010/main" val="1353499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8D5F7-0BB5-99C7-0377-2161E6114E50}"/>
              </a:ext>
            </a:extLst>
          </p:cNvPr>
          <p:cNvSpPr>
            <a:spLocks noGrp="1"/>
          </p:cNvSpPr>
          <p:nvPr>
            <p:ph type="title"/>
          </p:nvPr>
        </p:nvSpPr>
        <p:spPr>
          <a:xfrm>
            <a:off x="340506" y="548640"/>
            <a:ext cx="9815452" cy="376646"/>
          </a:xfrm>
        </p:spPr>
        <p:txBody>
          <a:bodyPr anchor="t">
            <a:normAutofit/>
          </a:bodyPr>
          <a:lstStyle/>
          <a:p>
            <a:r>
              <a:rPr lang="en-IN" sz="1800" dirty="0"/>
              <a:t>SL.NO.                        Context                                                                       Page NO.</a:t>
            </a:r>
          </a:p>
        </p:txBody>
      </p:sp>
      <p:graphicFrame>
        <p:nvGraphicFramePr>
          <p:cNvPr id="5" name="Content Placeholder 4">
            <a:extLst>
              <a:ext uri="{FF2B5EF4-FFF2-40B4-BE49-F238E27FC236}">
                <a16:creationId xmlns:a16="http://schemas.microsoft.com/office/drawing/2014/main" id="{1D2E8E7A-15CF-8BDF-10C8-B0182E88D54B}"/>
              </a:ext>
            </a:extLst>
          </p:cNvPr>
          <p:cNvGraphicFramePr>
            <a:graphicFrameLocks noGrp="1"/>
          </p:cNvGraphicFramePr>
          <p:nvPr>
            <p:ph idx="1"/>
            <p:extLst>
              <p:ext uri="{D42A27DB-BD31-4B8C-83A1-F6EECF244321}">
                <p14:modId xmlns:p14="http://schemas.microsoft.com/office/powerpoint/2010/main" val="2657631034"/>
              </p:ext>
              <p:ext uri="{E7BDC344-281C-4309-B0C6-D0EE65EED2A8}">
                <p202:designPr xmlns:p202="http://schemas.microsoft.com/office/powerpoint/2020/02/main">
                  <p202:designTagLst>
                    <p202:designTag name="ARCH:1:CLS" val="StackedSequentialRowTable"/>
                  </p202:designTagLst>
                </p202:designPr>
              </p:ext>
            </p:extLst>
          </p:nvPr>
        </p:nvGraphicFramePr>
        <p:xfrm>
          <a:off x="340507" y="1071457"/>
          <a:ext cx="9717893" cy="4457696"/>
        </p:xfrm>
        <a:graphic>
          <a:graphicData uri="http://schemas.openxmlformats.org/drawingml/2006/table">
            <a:tbl>
              <a:tblPr bandRow="1">
                <a:noFill/>
                <a:tableStyleId>{5C22544A-7EE6-4342-B048-85BDC9FD1C3A}</a:tableStyleId>
              </a:tblPr>
              <a:tblGrid>
                <a:gridCol w="2194492">
                  <a:extLst>
                    <a:ext uri="{9D8B030D-6E8A-4147-A177-3AD203B41FA5}">
                      <a16:colId xmlns:a16="http://schemas.microsoft.com/office/drawing/2014/main" val="1312379105"/>
                    </a:ext>
                  </a:extLst>
                </a:gridCol>
                <a:gridCol w="7523401">
                  <a:extLst>
                    <a:ext uri="{9D8B030D-6E8A-4147-A177-3AD203B41FA5}">
                      <a16:colId xmlns:a16="http://schemas.microsoft.com/office/drawing/2014/main" val="3381680471"/>
                    </a:ext>
                  </a:extLst>
                </a:gridCol>
              </a:tblGrid>
              <a:tr h="507897">
                <a:tc>
                  <a:txBody>
                    <a:bodyPr/>
                    <a:lstStyle/>
                    <a:p>
                      <a:pPr>
                        <a:buNone/>
                      </a:pPr>
                      <a:r>
                        <a:rPr lang="en-IN" sz="1800" b="1" cap="none" spc="0" dirty="0">
                          <a:solidFill>
                            <a:schemeClr val="tx1"/>
                          </a:solidFill>
                        </a:rPr>
                        <a:t>01</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r>
                        <a:rPr lang="en-US" sz="1800" b="0" i="0" u="none" strike="noStrike" kern="1200" dirty="0">
                          <a:solidFill>
                            <a:schemeClr val="dk1"/>
                          </a:solidFill>
                          <a:effectLst/>
                          <a:latin typeface="+mn-lt"/>
                          <a:ea typeface="+mn-ea"/>
                          <a:cs typeface="+mn-cs"/>
                        </a:rPr>
                        <a:t>Introduction to IT and Business Systems                              3-8</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448131869"/>
                  </a:ext>
                </a:extLst>
              </a:tr>
              <a:tr h="507897">
                <a:tc>
                  <a:txBody>
                    <a:bodyPr/>
                    <a:lstStyle/>
                    <a:p>
                      <a:pPr>
                        <a:buNone/>
                      </a:pPr>
                      <a:r>
                        <a:rPr lang="en-IN" sz="1800" b="1" cap="none" spc="0" dirty="0">
                          <a:solidFill>
                            <a:schemeClr val="tx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1800" b="0" cap="none" spc="0" dirty="0">
                          <a:solidFill>
                            <a:schemeClr val="tx1"/>
                          </a:solidFill>
                        </a:rPr>
                        <a:t>Data Types, Sources, and Lifecycle                                     9-14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008132516"/>
                  </a:ext>
                </a:extLst>
              </a:tr>
              <a:tr h="507897">
                <a:tc>
                  <a:txBody>
                    <a:bodyPr/>
                    <a:lstStyle/>
                    <a:p>
                      <a:pPr>
                        <a:buNone/>
                      </a:pPr>
                      <a:r>
                        <a:rPr lang="en-IN" sz="1800" b="1" cap="none" spc="0" dirty="0">
                          <a:solidFill>
                            <a:schemeClr val="tx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1800" b="0" cap="none" spc="0" dirty="0">
                          <a:solidFill>
                            <a:schemeClr val="tx1"/>
                          </a:solidFill>
                        </a:rPr>
                        <a:t>Introduction to Business Analyst Role                                  15-18</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766461564"/>
                  </a:ext>
                </a:extLst>
              </a:tr>
              <a:tr h="507897">
                <a:tc>
                  <a:txBody>
                    <a:bodyPr/>
                    <a:lstStyle/>
                    <a:p>
                      <a:pPr>
                        <a:buNone/>
                      </a:pPr>
                      <a:r>
                        <a:rPr lang="en-IN" sz="1800" b="1" cap="none" spc="0" dirty="0">
                          <a:solidFill>
                            <a:schemeClr val="tx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1800" b="0" cap="none" spc="0" dirty="0">
                          <a:solidFill>
                            <a:schemeClr val="tx1"/>
                          </a:solidFill>
                        </a:rPr>
                        <a:t>Data vs. Information                                                           19</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65802065"/>
                  </a:ext>
                </a:extLst>
              </a:tr>
              <a:tr h="507897">
                <a:tc>
                  <a:txBody>
                    <a:bodyPr/>
                    <a:lstStyle/>
                    <a:p>
                      <a:pPr>
                        <a:buNone/>
                      </a:pPr>
                      <a:r>
                        <a:rPr lang="en-IN" sz="1800" b="1" cap="none" spc="0" dirty="0">
                          <a:solidFill>
                            <a:schemeClr val="tx1"/>
                          </a:solidFill>
                        </a:rPr>
                        <a:t>05</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US" sz="1800" b="0" cap="none" spc="0" dirty="0">
                          <a:solidFill>
                            <a:schemeClr val="tx1"/>
                          </a:solidFill>
                        </a:rPr>
                        <a:t>Overview of Data Driven Decision Making                             20-21</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4322537"/>
                  </a:ext>
                </a:extLst>
              </a:tr>
              <a:tr h="507897">
                <a:tc>
                  <a:txBody>
                    <a:bodyPr/>
                    <a:lstStyle/>
                    <a:p>
                      <a:pPr>
                        <a:buNone/>
                      </a:pPr>
                      <a:r>
                        <a:rPr lang="en-IN" sz="1800" b="1" cap="none" spc="0" dirty="0">
                          <a:solidFill>
                            <a:schemeClr val="tx1"/>
                          </a:solidFill>
                        </a:rPr>
                        <a:t>06 </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US" sz="1800" b="0" cap="none" spc="0" dirty="0">
                          <a:solidFill>
                            <a:schemeClr val="tx1"/>
                          </a:solidFill>
                        </a:rPr>
                        <a:t>Case Discussions / Real Life Examples                                  22-23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676629"/>
                  </a:ext>
                </a:extLst>
              </a:tr>
              <a:tr h="507897">
                <a:tc>
                  <a:txBody>
                    <a:bodyPr/>
                    <a:lstStyle/>
                    <a:p>
                      <a:pPr>
                        <a:buNone/>
                      </a:pPr>
                      <a:r>
                        <a:rPr lang="en-IN" sz="1800" b="1" cap="none" spc="0" dirty="0">
                          <a:solidFill>
                            <a:schemeClr val="tx1"/>
                          </a:solidFill>
                        </a:rPr>
                        <a:t>07</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US" sz="1800" b="0" cap="none" spc="0" dirty="0">
                          <a:solidFill>
                            <a:schemeClr val="tx1"/>
                          </a:solidFill>
                        </a:rPr>
                        <a:t>Introduction to Data Governance &amp; Data Ethics                    24-26</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3400671"/>
                  </a:ext>
                </a:extLst>
              </a:tr>
              <a:tr h="507897">
                <a:tc>
                  <a:txBody>
                    <a:bodyPr/>
                    <a:lstStyle/>
                    <a:p>
                      <a:pPr>
                        <a:buNone/>
                      </a:pPr>
                      <a:r>
                        <a:rPr lang="en-IN" sz="1800" b="1" cap="none" spc="0" dirty="0">
                          <a:solidFill>
                            <a:schemeClr val="tx1"/>
                          </a:solidFill>
                        </a:rPr>
                        <a:t>08</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US" sz="1800" b="0" cap="none" spc="0" dirty="0">
                          <a:solidFill>
                            <a:schemeClr val="tx1"/>
                          </a:solidFill>
                        </a:rPr>
                        <a:t>Conclusion                                                                           27</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1066138"/>
                  </a:ext>
                </a:extLst>
              </a:tr>
            </a:tbl>
          </a:graphicData>
        </a:graphic>
      </p:graphicFrame>
    </p:spTree>
    <p:extLst>
      <p:ext uri="{BB962C8B-B14F-4D97-AF65-F5344CB8AC3E}">
        <p14:creationId xmlns:p14="http://schemas.microsoft.com/office/powerpoint/2010/main" val="3508282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A7ED-61C0-3D3C-0C3C-82BB4BAF3C13}"/>
              </a:ext>
            </a:extLst>
          </p:cNvPr>
          <p:cNvSpPr>
            <a:spLocks noGrp="1"/>
          </p:cNvSpPr>
          <p:nvPr>
            <p:ph type="title"/>
          </p:nvPr>
        </p:nvSpPr>
        <p:spPr>
          <a:xfrm>
            <a:off x="838199" y="413884"/>
            <a:ext cx="7151914" cy="718457"/>
          </a:xfrm>
        </p:spPr>
        <p:txBody>
          <a:bodyPr>
            <a:noAutofit/>
          </a:bodyPr>
          <a:lstStyle/>
          <a:p>
            <a:r>
              <a:rPr lang="en-US" sz="2800" dirty="0"/>
              <a:t>01. Introduction to IT and Business Systems</a:t>
            </a:r>
            <a:br>
              <a:rPr lang="en-US" sz="2800" dirty="0">
                <a:solidFill>
                  <a:schemeClr val="dk1"/>
                </a:solidFill>
              </a:rPr>
            </a:br>
            <a:endParaRPr lang="en-IN" sz="2800" dirty="0"/>
          </a:p>
        </p:txBody>
      </p:sp>
      <p:sp>
        <p:nvSpPr>
          <p:cNvPr id="3" name="Content Placeholder 2">
            <a:extLst>
              <a:ext uri="{FF2B5EF4-FFF2-40B4-BE49-F238E27FC236}">
                <a16:creationId xmlns:a16="http://schemas.microsoft.com/office/drawing/2014/main" id="{4A2C9A67-0C01-B3EA-CA4E-06481CEB2592}"/>
              </a:ext>
            </a:extLst>
          </p:cNvPr>
          <p:cNvSpPr>
            <a:spLocks noGrp="1"/>
          </p:cNvSpPr>
          <p:nvPr>
            <p:ph idx="1"/>
          </p:nvPr>
        </p:nvSpPr>
        <p:spPr>
          <a:xfrm>
            <a:off x="838200" y="1132340"/>
            <a:ext cx="8479971" cy="5388203"/>
          </a:xfrm>
        </p:spPr>
        <p:txBody>
          <a:bodyPr>
            <a:normAutofit fontScale="85000" lnSpcReduction="10000"/>
          </a:bodyPr>
          <a:lstStyle/>
          <a:p>
            <a:pPr marL="0" indent="0">
              <a:lnSpc>
                <a:spcPct val="160000"/>
              </a:lnSpc>
              <a:buNone/>
            </a:pPr>
            <a:r>
              <a:rPr lang="en-US" sz="2400" b="1" dirty="0"/>
              <a:t>Information Technology (IT) </a:t>
            </a:r>
            <a:r>
              <a:rPr lang="en-US" sz="2400" dirty="0"/>
              <a:t>refers to the use of computers, software, networks, and digital systems to store, process, manage, and transmit information efficiently. It includes hardware like computers and servers, software applications like Excel and web browsers, networking systems that connect devices, databases that organize data, and cybersecurity measures that protect information from threats. IT plays a vital role in almost every industry such as banking, healthcare, education, ecommerce, and corporate offices by improving productivity, automating tasks, and supporting data driven decision making. In simple terms, IT is the technology that helps individuals and organizations handle information effectively in the digital world.</a:t>
            </a:r>
            <a:endParaRPr lang="en-IN" sz="2400" dirty="0"/>
          </a:p>
        </p:txBody>
      </p:sp>
    </p:spTree>
    <p:extLst>
      <p:ext uri="{BB962C8B-B14F-4D97-AF65-F5344CB8AC3E}">
        <p14:creationId xmlns:p14="http://schemas.microsoft.com/office/powerpoint/2010/main" val="1601096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F0BF78-3E4F-B932-8F2A-C2EB4B5E6260}"/>
              </a:ext>
            </a:extLst>
          </p:cNvPr>
          <p:cNvSpPr>
            <a:spLocks noGrp="1"/>
          </p:cNvSpPr>
          <p:nvPr>
            <p:ph idx="1"/>
          </p:nvPr>
        </p:nvSpPr>
        <p:spPr>
          <a:xfrm>
            <a:off x="468085" y="97971"/>
            <a:ext cx="9568544" cy="6455229"/>
          </a:xfrm>
        </p:spPr>
        <p:txBody>
          <a:bodyPr>
            <a:noAutofit/>
          </a:bodyPr>
          <a:lstStyle/>
          <a:p>
            <a:pPr marL="0" indent="0">
              <a:lnSpc>
                <a:spcPct val="150000"/>
              </a:lnSpc>
              <a:buNone/>
            </a:pPr>
            <a:r>
              <a:rPr lang="en-US" sz="2200" b="1" dirty="0"/>
              <a:t>Business systems </a:t>
            </a:r>
            <a:r>
              <a:rPr lang="en-US" sz="2200" dirty="0"/>
              <a:t>are organized processes and technologies used by companies to manage daily operations, support decision making, and achieve organizational goals. These systems combine people, procedures, software, and hardware to collect, process, and store information efficiently. Business systems help in areas such as finance, sales, marketing, human resources, inventory, and customer service. There are different types of business systems, including Transaction Processing Systems (TPS) for handling daily transactions, Management Information Systems (MIS) for generating reports, Decision Support Systems (DSS) for analyzing data, and Enterprise systems like ERP and CRM for integrating business functions. Overall, business systems improve productivity, accuracy, coordination, and help companies make better strategic decisions.</a:t>
            </a:r>
          </a:p>
          <a:p>
            <a:endParaRPr lang="en-IN" sz="2200" dirty="0"/>
          </a:p>
        </p:txBody>
      </p:sp>
    </p:spTree>
    <p:extLst>
      <p:ext uri="{BB962C8B-B14F-4D97-AF65-F5344CB8AC3E}">
        <p14:creationId xmlns:p14="http://schemas.microsoft.com/office/powerpoint/2010/main" val="765686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B8092-816A-4E3B-6327-15430FA7C318}"/>
              </a:ext>
            </a:extLst>
          </p:cNvPr>
          <p:cNvSpPr>
            <a:spLocks noGrp="1"/>
          </p:cNvSpPr>
          <p:nvPr>
            <p:ph type="title"/>
          </p:nvPr>
        </p:nvSpPr>
        <p:spPr/>
        <p:txBody>
          <a:bodyPr>
            <a:normAutofit/>
          </a:bodyPr>
          <a:lstStyle/>
          <a:p>
            <a:r>
              <a:rPr lang="en-IN" sz="2800" dirty="0"/>
              <a:t>Role of IT in Business Operations</a:t>
            </a:r>
          </a:p>
        </p:txBody>
      </p:sp>
      <p:sp>
        <p:nvSpPr>
          <p:cNvPr id="3" name="Content Placeholder 2">
            <a:extLst>
              <a:ext uri="{FF2B5EF4-FFF2-40B4-BE49-F238E27FC236}">
                <a16:creationId xmlns:a16="http://schemas.microsoft.com/office/drawing/2014/main" id="{9F8FB571-7910-CD77-F4B1-B41ACBFE90FF}"/>
              </a:ext>
            </a:extLst>
          </p:cNvPr>
          <p:cNvSpPr>
            <a:spLocks noGrp="1"/>
          </p:cNvSpPr>
          <p:nvPr>
            <p:ph idx="1"/>
          </p:nvPr>
        </p:nvSpPr>
        <p:spPr>
          <a:xfrm>
            <a:off x="677334" y="1433739"/>
            <a:ext cx="9108923" cy="4890862"/>
          </a:xfrm>
        </p:spPr>
        <p:txBody>
          <a:bodyPr>
            <a:normAutofit/>
          </a:bodyPr>
          <a:lstStyle/>
          <a:p>
            <a:pPr marL="0" indent="0">
              <a:lnSpc>
                <a:spcPct val="150000"/>
              </a:lnSpc>
              <a:buNone/>
            </a:pPr>
            <a:r>
              <a:rPr lang="en-US" sz="2200" dirty="0"/>
              <a:t>Information Technology (IT) plays an important role in business operations by improving efficiency, accuracy, and communication. It helps companies manage data, automate tasks like payroll and inventory, and use software systems such as ERP for smooth workflow management. IT also supports data analysis for better decision making, enables cloud based access to information from anywhere, and ensures data security. Overall, IT helps businesses reduce costs, increase productivity, and achieve faster growth.</a:t>
            </a:r>
            <a:endParaRPr lang="en-IN" sz="2200" dirty="0"/>
          </a:p>
        </p:txBody>
      </p:sp>
    </p:spTree>
    <p:extLst>
      <p:ext uri="{BB962C8B-B14F-4D97-AF65-F5344CB8AC3E}">
        <p14:creationId xmlns:p14="http://schemas.microsoft.com/office/powerpoint/2010/main" val="2071087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521AB-DC62-0309-1BD6-2C6FD78A08F0}"/>
              </a:ext>
            </a:extLst>
          </p:cNvPr>
          <p:cNvSpPr>
            <a:spLocks noGrp="1"/>
          </p:cNvSpPr>
          <p:nvPr>
            <p:ph type="title"/>
          </p:nvPr>
        </p:nvSpPr>
        <p:spPr>
          <a:xfrm>
            <a:off x="576943" y="326572"/>
            <a:ext cx="10515600" cy="903741"/>
          </a:xfrm>
        </p:spPr>
        <p:txBody>
          <a:bodyPr>
            <a:normAutofit/>
          </a:bodyPr>
          <a:lstStyle/>
          <a:p>
            <a:r>
              <a:rPr lang="en-IN" sz="2800" dirty="0"/>
              <a:t>ERP vs CRM</a:t>
            </a:r>
          </a:p>
        </p:txBody>
      </p:sp>
      <p:sp>
        <p:nvSpPr>
          <p:cNvPr id="3" name="Content Placeholder 2">
            <a:extLst>
              <a:ext uri="{FF2B5EF4-FFF2-40B4-BE49-F238E27FC236}">
                <a16:creationId xmlns:a16="http://schemas.microsoft.com/office/drawing/2014/main" id="{1BD0CB9C-0DFC-93F6-60E8-82E967E30724}"/>
              </a:ext>
            </a:extLst>
          </p:cNvPr>
          <p:cNvSpPr>
            <a:spLocks noGrp="1"/>
          </p:cNvSpPr>
          <p:nvPr>
            <p:ph idx="1"/>
          </p:nvPr>
        </p:nvSpPr>
        <p:spPr>
          <a:xfrm>
            <a:off x="576943" y="1350509"/>
            <a:ext cx="9350828" cy="5126718"/>
          </a:xfrm>
        </p:spPr>
        <p:txBody>
          <a:bodyPr>
            <a:noAutofit/>
          </a:bodyPr>
          <a:lstStyle/>
          <a:p>
            <a:pPr marL="0" indent="0">
              <a:lnSpc>
                <a:spcPct val="150000"/>
              </a:lnSpc>
              <a:buNone/>
            </a:pPr>
            <a:r>
              <a:rPr lang="en-US" sz="2200" b="1" dirty="0"/>
              <a:t>Enterprise Resource Planning (ERP) </a:t>
            </a:r>
            <a:r>
              <a:rPr lang="en-US" sz="2200" dirty="0"/>
              <a:t>is a business management system used to integrate and manage core internal processes such as finance, accounting, human resources, inventory, procurement, and supply chain operations. It provides a centralized database that allows different departments to share information in real time, reducing errors and improving coordination. ERP systems help organizations streamline workflows, automate routine tasks, control costs, and increase overall operational efficiency. By using ERP, companies can track resources effectively and make better strategic decisions based on accurate internal data.</a:t>
            </a:r>
          </a:p>
          <a:p>
            <a:pPr marL="0" indent="0">
              <a:lnSpc>
                <a:spcPct val="150000"/>
              </a:lnSpc>
              <a:buNone/>
            </a:pPr>
            <a:endParaRPr lang="en-IN" sz="2200" dirty="0"/>
          </a:p>
        </p:txBody>
      </p:sp>
    </p:spTree>
    <p:extLst>
      <p:ext uri="{BB962C8B-B14F-4D97-AF65-F5344CB8AC3E}">
        <p14:creationId xmlns:p14="http://schemas.microsoft.com/office/powerpoint/2010/main" val="3838237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88B0D3-A394-8F01-87C0-3473A5DDAB24}"/>
              </a:ext>
            </a:extLst>
          </p:cNvPr>
          <p:cNvSpPr>
            <a:spLocks noGrp="1"/>
          </p:cNvSpPr>
          <p:nvPr>
            <p:ph idx="1"/>
          </p:nvPr>
        </p:nvSpPr>
        <p:spPr>
          <a:xfrm>
            <a:off x="435431" y="533400"/>
            <a:ext cx="9154884" cy="6607629"/>
          </a:xfrm>
        </p:spPr>
        <p:txBody>
          <a:bodyPr>
            <a:normAutofit/>
          </a:bodyPr>
          <a:lstStyle/>
          <a:p>
            <a:pPr marL="0" indent="0">
              <a:lnSpc>
                <a:spcPct val="150000"/>
              </a:lnSpc>
              <a:buNone/>
            </a:pPr>
            <a:r>
              <a:rPr lang="en-US" sz="2200" b="1" dirty="0"/>
              <a:t>Customer Relationship Management (CRM) </a:t>
            </a:r>
            <a:r>
              <a:rPr lang="en-US" sz="2200" dirty="0"/>
              <a:t>is a system designed to manage a company’s interactions with current and potential customers. It helps businesses organize customer data, track sales leads, monitor marketing campaigns, and handle customer service activities. CRM systems improve communication with clients, enhance customer satisfaction, and increase sales performance by providing detailed insights into customer behavior and preferences. While ERP focuses on managing internal operations, CRM focuses on strengthening customer relationships and driving revenue growth.</a:t>
            </a:r>
          </a:p>
          <a:p>
            <a:pPr marL="0" indent="0">
              <a:lnSpc>
                <a:spcPct val="150000"/>
              </a:lnSpc>
              <a:buNone/>
            </a:pPr>
            <a:endParaRPr lang="en-IN" sz="2200" dirty="0"/>
          </a:p>
        </p:txBody>
      </p:sp>
    </p:spTree>
    <p:extLst>
      <p:ext uri="{BB962C8B-B14F-4D97-AF65-F5344CB8AC3E}">
        <p14:creationId xmlns:p14="http://schemas.microsoft.com/office/powerpoint/2010/main" val="597560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AF2A0-08B1-5E0F-C122-E1BE32E44316}"/>
              </a:ext>
            </a:extLst>
          </p:cNvPr>
          <p:cNvSpPr>
            <a:spLocks noGrp="1"/>
          </p:cNvSpPr>
          <p:nvPr>
            <p:ph type="title"/>
          </p:nvPr>
        </p:nvSpPr>
        <p:spPr>
          <a:xfrm>
            <a:off x="677334" y="424542"/>
            <a:ext cx="8596668" cy="664029"/>
          </a:xfrm>
        </p:spPr>
        <p:txBody>
          <a:bodyPr>
            <a:normAutofit/>
          </a:bodyPr>
          <a:lstStyle/>
          <a:p>
            <a:r>
              <a:rPr lang="en-IN" sz="2800" spc="50" dirty="0">
                <a:ea typeface="ADLaM Display" panose="020F0502020204030204" pitchFamily="2" charset="0"/>
                <a:cs typeface="ADLaM Display" panose="020F0502020204030204" pitchFamily="2" charset="0"/>
              </a:rPr>
              <a:t>Business</a:t>
            </a:r>
            <a:r>
              <a:rPr lang="en-IN" sz="2800" spc="-114" dirty="0">
                <a:ea typeface="ADLaM Display" panose="020F0502020204030204" pitchFamily="2" charset="0"/>
                <a:cs typeface="ADLaM Display" panose="020F0502020204030204" pitchFamily="2" charset="0"/>
              </a:rPr>
              <a:t> </a:t>
            </a:r>
            <a:r>
              <a:rPr lang="en-IN" sz="2800" spc="55" dirty="0">
                <a:ea typeface="ADLaM Display" panose="020F0502020204030204" pitchFamily="2" charset="0"/>
                <a:cs typeface="ADLaM Display" panose="020F0502020204030204" pitchFamily="2" charset="0"/>
              </a:rPr>
              <a:t>Strategy</a:t>
            </a:r>
            <a:r>
              <a:rPr lang="en-IN" sz="2800" spc="-50" dirty="0">
                <a:ea typeface="ADLaM Display" panose="020F0502020204030204" pitchFamily="2" charset="0"/>
                <a:cs typeface="ADLaM Display" panose="020F0502020204030204" pitchFamily="2" charset="0"/>
              </a:rPr>
              <a:t> </a:t>
            </a:r>
            <a:r>
              <a:rPr lang="en-IN" sz="2800" spc="495" dirty="0">
                <a:ea typeface="ADLaM Display" panose="020F0502020204030204" pitchFamily="2" charset="0"/>
                <a:cs typeface="ADLaM Display" panose="020F0502020204030204" pitchFamily="2" charset="0"/>
              </a:rPr>
              <a:t>&amp;</a:t>
            </a:r>
            <a:r>
              <a:rPr lang="en-IN" sz="2800" spc="-50" dirty="0">
                <a:ea typeface="ADLaM Display" panose="020F0502020204030204" pitchFamily="2" charset="0"/>
                <a:cs typeface="ADLaM Display" panose="020F0502020204030204" pitchFamily="2" charset="0"/>
              </a:rPr>
              <a:t> </a:t>
            </a:r>
            <a:r>
              <a:rPr lang="en-IN" sz="2800" dirty="0">
                <a:ea typeface="ADLaM Display" panose="020F0502020204030204" pitchFamily="2" charset="0"/>
                <a:cs typeface="ADLaM Display" panose="020F0502020204030204" pitchFamily="2" charset="0"/>
              </a:rPr>
              <a:t>IT</a:t>
            </a:r>
            <a:r>
              <a:rPr lang="en-IN" sz="2800" spc="-75" dirty="0">
                <a:ea typeface="ADLaM Display" panose="020F0502020204030204" pitchFamily="2" charset="0"/>
                <a:cs typeface="ADLaM Display" panose="020F0502020204030204" pitchFamily="2" charset="0"/>
              </a:rPr>
              <a:t> </a:t>
            </a:r>
            <a:r>
              <a:rPr lang="en-IN" sz="2800" spc="45" dirty="0">
                <a:ea typeface="ADLaM Display" panose="020F0502020204030204" pitchFamily="2" charset="0"/>
                <a:cs typeface="ADLaM Display" panose="020F0502020204030204" pitchFamily="2" charset="0"/>
              </a:rPr>
              <a:t>Strategy</a:t>
            </a:r>
            <a:endParaRPr lang="en-IN" sz="2800" dirty="0">
              <a:ea typeface="ADLaM Display" panose="020F0502020204030204" pitchFamily="2" charset="0"/>
              <a:cs typeface="ADLaM Display" panose="020F0502020204030204" pitchFamily="2" charset="0"/>
            </a:endParaRPr>
          </a:p>
        </p:txBody>
      </p:sp>
      <p:sp>
        <p:nvSpPr>
          <p:cNvPr id="3" name="Content Placeholder 2">
            <a:extLst>
              <a:ext uri="{FF2B5EF4-FFF2-40B4-BE49-F238E27FC236}">
                <a16:creationId xmlns:a16="http://schemas.microsoft.com/office/drawing/2014/main" id="{D713C3E0-79C1-4D84-72A2-C5606F5296F8}"/>
              </a:ext>
            </a:extLst>
          </p:cNvPr>
          <p:cNvSpPr>
            <a:spLocks noGrp="1"/>
          </p:cNvSpPr>
          <p:nvPr>
            <p:ph idx="1"/>
          </p:nvPr>
        </p:nvSpPr>
        <p:spPr>
          <a:xfrm>
            <a:off x="590248" y="1284513"/>
            <a:ext cx="8934752" cy="3627673"/>
          </a:xfrm>
        </p:spPr>
        <p:txBody>
          <a:bodyPr>
            <a:noAutofit/>
          </a:bodyPr>
          <a:lstStyle/>
          <a:p>
            <a:pPr marL="0" indent="0">
              <a:buNone/>
            </a:pPr>
            <a:r>
              <a:rPr lang="en-US" sz="2200" b="1" dirty="0"/>
              <a:t>    Business Strategy</a:t>
            </a:r>
          </a:p>
          <a:p>
            <a:pPr>
              <a:buFont typeface="Wingdings" panose="05000000000000000000" pitchFamily="2" charset="2"/>
              <a:buChar char="Ø"/>
            </a:pPr>
            <a:r>
              <a:rPr lang="en-US" sz="2200" dirty="0"/>
              <a:t>Focuses on overall company goals and long term growth.</a:t>
            </a:r>
          </a:p>
          <a:p>
            <a:pPr>
              <a:buFont typeface="Wingdings" panose="05000000000000000000" pitchFamily="2" charset="2"/>
              <a:buChar char="Ø"/>
            </a:pPr>
            <a:r>
              <a:rPr lang="en-US" sz="2200" dirty="0"/>
              <a:t>Defines market position and competitive advantage.</a:t>
            </a:r>
          </a:p>
          <a:p>
            <a:pPr>
              <a:buFont typeface="Wingdings" panose="05000000000000000000" pitchFamily="2" charset="2"/>
              <a:buChar char="Ø"/>
            </a:pPr>
            <a:r>
              <a:rPr lang="en-US" sz="2200" dirty="0"/>
              <a:t>Decides products, services, and target customers.</a:t>
            </a:r>
          </a:p>
          <a:p>
            <a:pPr>
              <a:buFont typeface="Wingdings" panose="05000000000000000000" pitchFamily="2" charset="2"/>
              <a:buChar char="Ø"/>
            </a:pPr>
            <a:r>
              <a:rPr lang="en-US" sz="2200" dirty="0"/>
              <a:t>Aims to increase profit and market share.</a:t>
            </a:r>
          </a:p>
          <a:p>
            <a:pPr marL="0" indent="0">
              <a:buNone/>
            </a:pPr>
            <a:endParaRPr lang="en-US" sz="2200" b="1" dirty="0"/>
          </a:p>
          <a:p>
            <a:pPr marL="0" indent="0">
              <a:buNone/>
            </a:pPr>
            <a:r>
              <a:rPr lang="en-US" sz="2200" b="1" dirty="0"/>
              <a:t>    IT Strategy</a:t>
            </a:r>
          </a:p>
          <a:p>
            <a:pPr>
              <a:buFont typeface="Wingdings" panose="05000000000000000000" pitchFamily="2" charset="2"/>
              <a:buChar char="Ø"/>
            </a:pPr>
            <a:r>
              <a:rPr lang="en-US" sz="2200" dirty="0"/>
              <a:t>Focuses on technology planning and digital transformation.</a:t>
            </a:r>
          </a:p>
          <a:p>
            <a:pPr>
              <a:buFont typeface="Wingdings" panose="05000000000000000000" pitchFamily="2" charset="2"/>
              <a:buChar char="Ø"/>
            </a:pPr>
            <a:r>
              <a:rPr lang="en-US" sz="2200" dirty="0"/>
              <a:t>Supports business goals through IT solutions.</a:t>
            </a:r>
          </a:p>
          <a:p>
            <a:pPr>
              <a:buFont typeface="Wingdings" panose="05000000000000000000" pitchFamily="2" charset="2"/>
              <a:buChar char="Ø"/>
            </a:pPr>
            <a:r>
              <a:rPr lang="en-US" sz="2200" dirty="0"/>
              <a:t>Manages infrastructure, software, and data systems.</a:t>
            </a:r>
          </a:p>
          <a:p>
            <a:pPr>
              <a:buFont typeface="Wingdings" panose="05000000000000000000" pitchFamily="2" charset="2"/>
              <a:buChar char="Ø"/>
            </a:pPr>
            <a:r>
              <a:rPr lang="en-US" sz="2200" dirty="0"/>
              <a:t>Improves efficiency, security, and innovation.</a:t>
            </a:r>
          </a:p>
          <a:p>
            <a:pPr marL="0" indent="0">
              <a:buNone/>
            </a:pPr>
            <a:endParaRPr lang="en-IN" sz="2200" dirty="0"/>
          </a:p>
        </p:txBody>
      </p:sp>
    </p:spTree>
    <p:extLst>
      <p:ext uri="{BB962C8B-B14F-4D97-AF65-F5344CB8AC3E}">
        <p14:creationId xmlns:p14="http://schemas.microsoft.com/office/powerpoint/2010/main" val="2501482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EDE5E-4293-EA6B-D03B-1F55F1E5C001}"/>
              </a:ext>
            </a:extLst>
          </p:cNvPr>
          <p:cNvSpPr>
            <a:spLocks noGrp="1"/>
          </p:cNvSpPr>
          <p:nvPr>
            <p:ph type="title"/>
          </p:nvPr>
        </p:nvSpPr>
        <p:spPr>
          <a:xfrm>
            <a:off x="500743" y="329634"/>
            <a:ext cx="10515600" cy="552110"/>
          </a:xfrm>
        </p:spPr>
        <p:txBody>
          <a:bodyPr>
            <a:noAutofit/>
          </a:bodyPr>
          <a:lstStyle/>
          <a:p>
            <a:r>
              <a:rPr lang="en-IN" sz="2800" dirty="0"/>
              <a:t>02. </a:t>
            </a:r>
            <a:r>
              <a:rPr lang="en-US" sz="2800" dirty="0"/>
              <a:t>Data Types, Sources, and Lifecycle</a:t>
            </a:r>
            <a:br>
              <a:rPr lang="en-US" sz="2800" dirty="0"/>
            </a:br>
            <a:r>
              <a:rPr lang="en-IN" sz="2800" dirty="0"/>
              <a:t> </a:t>
            </a:r>
          </a:p>
        </p:txBody>
      </p:sp>
      <p:sp>
        <p:nvSpPr>
          <p:cNvPr id="3" name="Content Placeholder 2">
            <a:extLst>
              <a:ext uri="{FF2B5EF4-FFF2-40B4-BE49-F238E27FC236}">
                <a16:creationId xmlns:a16="http://schemas.microsoft.com/office/drawing/2014/main" id="{A066E43E-C009-1A0A-8A9B-274B1CA37FD6}"/>
              </a:ext>
            </a:extLst>
          </p:cNvPr>
          <p:cNvSpPr>
            <a:spLocks noGrp="1"/>
          </p:cNvSpPr>
          <p:nvPr>
            <p:ph idx="1"/>
          </p:nvPr>
        </p:nvSpPr>
        <p:spPr>
          <a:xfrm>
            <a:off x="500743" y="1253331"/>
            <a:ext cx="11223171" cy="4929755"/>
          </a:xfrm>
        </p:spPr>
        <p:txBody>
          <a:bodyPr>
            <a:normAutofit/>
          </a:bodyPr>
          <a:lstStyle/>
          <a:p>
            <a:pPr marL="0" indent="0">
              <a:buNone/>
            </a:pPr>
            <a:r>
              <a:rPr lang="en-IN" sz="2200" dirty="0"/>
              <a:t>Types of Data :- </a:t>
            </a:r>
          </a:p>
          <a:p>
            <a:pPr marL="0" indent="0">
              <a:buNone/>
            </a:pPr>
            <a:endParaRPr lang="en-IN" sz="2200" dirty="0"/>
          </a:p>
          <a:p>
            <a:pPr marL="0" indent="0">
              <a:buNone/>
            </a:pPr>
            <a:r>
              <a:rPr lang="en-IN" sz="2200" b="1" dirty="0"/>
              <a:t>a) </a:t>
            </a:r>
            <a:r>
              <a:rPr lang="en-US" sz="2200" b="1" dirty="0"/>
              <a:t>Structured Data</a:t>
            </a:r>
          </a:p>
          <a:p>
            <a:pPr>
              <a:buFont typeface="Wingdings" panose="05000000000000000000" pitchFamily="2" charset="2"/>
              <a:buChar char="Ø"/>
            </a:pPr>
            <a:r>
              <a:rPr lang="en-US" sz="2200" dirty="0"/>
              <a:t>Organized in a fixed format like rows and columns.</a:t>
            </a:r>
          </a:p>
          <a:p>
            <a:pPr>
              <a:buFont typeface="Wingdings" panose="05000000000000000000" pitchFamily="2" charset="2"/>
              <a:buChar char="Ø"/>
            </a:pPr>
            <a:r>
              <a:rPr lang="en-US" sz="2200" dirty="0"/>
              <a:t>Stored in relational databases (SQL) and spreadsheets.</a:t>
            </a:r>
          </a:p>
          <a:p>
            <a:pPr>
              <a:buFont typeface="Wingdings" panose="05000000000000000000" pitchFamily="2" charset="2"/>
              <a:buChar char="Ø"/>
            </a:pPr>
            <a:r>
              <a:rPr lang="en-US" sz="2200" dirty="0"/>
              <a:t>Easy to search, filter, and analyze using queries.</a:t>
            </a:r>
          </a:p>
          <a:p>
            <a:pPr>
              <a:buFont typeface="Wingdings" panose="05000000000000000000" pitchFamily="2" charset="2"/>
              <a:buChar char="Ø"/>
            </a:pPr>
            <a:r>
              <a:rPr lang="en-US" sz="2200" dirty="0"/>
              <a:t>Commonly used in business reports and MIS systems.</a:t>
            </a:r>
          </a:p>
          <a:p>
            <a:pPr>
              <a:buFont typeface="Wingdings" panose="05000000000000000000" pitchFamily="2" charset="2"/>
              <a:buChar char="Ø"/>
            </a:pPr>
            <a:r>
              <a:rPr lang="en-US" sz="2200" dirty="0"/>
              <a:t>Example: Employee records, sales data, inventory lists.</a:t>
            </a:r>
          </a:p>
          <a:p>
            <a:pPr marL="0" indent="0">
              <a:buNone/>
            </a:pPr>
            <a:endParaRPr lang="en-IN" sz="2200" dirty="0"/>
          </a:p>
        </p:txBody>
      </p:sp>
    </p:spTree>
    <p:extLst>
      <p:ext uri="{BB962C8B-B14F-4D97-AF65-F5344CB8AC3E}">
        <p14:creationId xmlns:p14="http://schemas.microsoft.com/office/powerpoint/2010/main" val="1848958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6252E-63CE-D95A-2FE7-7EAC1F2AD624}"/>
              </a:ext>
            </a:extLst>
          </p:cNvPr>
          <p:cNvSpPr>
            <a:spLocks noGrp="1"/>
          </p:cNvSpPr>
          <p:nvPr>
            <p:ph idx="1"/>
          </p:nvPr>
        </p:nvSpPr>
        <p:spPr>
          <a:xfrm>
            <a:off x="546706" y="233817"/>
            <a:ext cx="9958008" cy="6275840"/>
          </a:xfrm>
        </p:spPr>
        <p:txBody>
          <a:bodyPr>
            <a:noAutofit/>
          </a:bodyPr>
          <a:lstStyle/>
          <a:p>
            <a:pPr marL="0" indent="0">
              <a:buNone/>
            </a:pPr>
            <a:r>
              <a:rPr lang="en-IN" sz="2200" b="1" dirty="0"/>
              <a:t>b) </a:t>
            </a:r>
            <a:r>
              <a:rPr lang="en-US" sz="2200" b="1" dirty="0"/>
              <a:t>Unstructured Data</a:t>
            </a:r>
          </a:p>
          <a:p>
            <a:pPr>
              <a:buFont typeface="Wingdings" panose="05000000000000000000" pitchFamily="2" charset="2"/>
              <a:buChar char="Ø"/>
            </a:pPr>
            <a:r>
              <a:rPr lang="en-US" sz="2200" dirty="0"/>
              <a:t>Does not follow a predefined format or structure.</a:t>
            </a:r>
          </a:p>
          <a:p>
            <a:pPr>
              <a:buFont typeface="Wingdings" panose="05000000000000000000" pitchFamily="2" charset="2"/>
              <a:buChar char="Ø"/>
            </a:pPr>
            <a:r>
              <a:rPr lang="en-US" sz="2200" dirty="0"/>
              <a:t>Difficult to store and analyze using traditional databases.</a:t>
            </a:r>
          </a:p>
          <a:p>
            <a:pPr>
              <a:buFont typeface="Wingdings" panose="05000000000000000000" pitchFamily="2" charset="2"/>
              <a:buChar char="Ø"/>
            </a:pPr>
            <a:r>
              <a:rPr lang="en-US" sz="2200" dirty="0"/>
              <a:t>Requires advanced tools like AI or data analytics software.</a:t>
            </a:r>
          </a:p>
          <a:p>
            <a:pPr>
              <a:buFont typeface="Wingdings" panose="05000000000000000000" pitchFamily="2" charset="2"/>
              <a:buChar char="Ø"/>
            </a:pPr>
            <a:r>
              <a:rPr lang="en-US" sz="2200" dirty="0"/>
              <a:t>Makes up a large portion of business data today.</a:t>
            </a:r>
          </a:p>
          <a:p>
            <a:pPr>
              <a:buFont typeface="Wingdings" panose="05000000000000000000" pitchFamily="2" charset="2"/>
              <a:buChar char="Ø"/>
            </a:pPr>
            <a:r>
              <a:rPr lang="en-US" sz="2200" dirty="0"/>
              <a:t>Example: Emails, social media posts, images, videos, audio files.</a:t>
            </a:r>
          </a:p>
          <a:p>
            <a:pPr>
              <a:buFont typeface="Wingdings" panose="05000000000000000000" pitchFamily="2" charset="2"/>
              <a:buChar char="Ø"/>
            </a:pPr>
            <a:endParaRPr lang="en-IN" sz="2200" dirty="0"/>
          </a:p>
          <a:p>
            <a:pPr marL="0" indent="0">
              <a:buNone/>
            </a:pPr>
            <a:r>
              <a:rPr lang="en-IN" sz="2200" b="1" dirty="0"/>
              <a:t>c) </a:t>
            </a:r>
            <a:r>
              <a:rPr lang="en-US" sz="2200" b="1" dirty="0"/>
              <a:t>Semi-Structured Data</a:t>
            </a:r>
          </a:p>
          <a:p>
            <a:pPr>
              <a:buFont typeface="Wingdings" panose="05000000000000000000" pitchFamily="2" charset="2"/>
              <a:buChar char="Ø"/>
            </a:pPr>
            <a:r>
              <a:rPr lang="en-US" sz="2200" dirty="0"/>
              <a:t>Not fully structured but contains tags or markers.</a:t>
            </a:r>
          </a:p>
          <a:p>
            <a:pPr>
              <a:buFont typeface="Wingdings" panose="05000000000000000000" pitchFamily="2" charset="2"/>
              <a:buChar char="Ø"/>
            </a:pPr>
            <a:r>
              <a:rPr lang="en-US" sz="2200" dirty="0"/>
              <a:t>More flexible than structured data.</a:t>
            </a:r>
          </a:p>
          <a:p>
            <a:pPr>
              <a:buFont typeface="Wingdings" panose="05000000000000000000" pitchFamily="2" charset="2"/>
              <a:buChar char="Ø"/>
            </a:pPr>
            <a:r>
              <a:rPr lang="en-US" sz="2200" dirty="0"/>
              <a:t>Often used in web applications and data exchange.</a:t>
            </a:r>
          </a:p>
          <a:p>
            <a:pPr>
              <a:buFont typeface="Wingdings" panose="05000000000000000000" pitchFamily="2" charset="2"/>
              <a:buChar char="Ø"/>
            </a:pPr>
            <a:r>
              <a:rPr lang="en-US" sz="2200" dirty="0"/>
              <a:t>Can be converted into structured format if needed.</a:t>
            </a:r>
          </a:p>
          <a:p>
            <a:pPr>
              <a:buFont typeface="Wingdings" panose="05000000000000000000" pitchFamily="2" charset="2"/>
              <a:buChar char="Ø"/>
            </a:pPr>
            <a:r>
              <a:rPr lang="en-US" sz="2200" dirty="0"/>
              <a:t>Example: JSON files, XML documents, HTML files.</a:t>
            </a:r>
          </a:p>
          <a:p>
            <a:pPr marL="0" indent="0">
              <a:buNone/>
            </a:pPr>
            <a:endParaRPr lang="en-IN" sz="2200" dirty="0"/>
          </a:p>
        </p:txBody>
      </p:sp>
    </p:spTree>
    <p:extLst>
      <p:ext uri="{BB962C8B-B14F-4D97-AF65-F5344CB8AC3E}">
        <p14:creationId xmlns:p14="http://schemas.microsoft.com/office/powerpoint/2010/main" val="809080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143B-3190-0561-D570-9813D77B1159}"/>
              </a:ext>
            </a:extLst>
          </p:cNvPr>
          <p:cNvSpPr>
            <a:spLocks noGrp="1"/>
          </p:cNvSpPr>
          <p:nvPr>
            <p:ph type="title"/>
          </p:nvPr>
        </p:nvSpPr>
        <p:spPr>
          <a:xfrm>
            <a:off x="677334" y="348343"/>
            <a:ext cx="8596668" cy="576943"/>
          </a:xfrm>
        </p:spPr>
        <p:txBody>
          <a:bodyPr>
            <a:normAutofit/>
          </a:bodyPr>
          <a:lstStyle/>
          <a:p>
            <a:r>
              <a:rPr lang="en-IN" sz="2800" dirty="0"/>
              <a:t>Data Sources</a:t>
            </a:r>
          </a:p>
        </p:txBody>
      </p:sp>
      <p:sp>
        <p:nvSpPr>
          <p:cNvPr id="3" name="Content Placeholder 2">
            <a:extLst>
              <a:ext uri="{FF2B5EF4-FFF2-40B4-BE49-F238E27FC236}">
                <a16:creationId xmlns:a16="http://schemas.microsoft.com/office/drawing/2014/main" id="{ED3B02EF-EC21-3E70-9C55-BB5237EA3BCA}"/>
              </a:ext>
            </a:extLst>
          </p:cNvPr>
          <p:cNvSpPr>
            <a:spLocks noGrp="1"/>
          </p:cNvSpPr>
          <p:nvPr>
            <p:ph idx="1"/>
          </p:nvPr>
        </p:nvSpPr>
        <p:spPr>
          <a:xfrm>
            <a:off x="677334" y="1148218"/>
            <a:ext cx="9457266" cy="5361439"/>
          </a:xfrm>
        </p:spPr>
        <p:txBody>
          <a:bodyPr>
            <a:noAutofit/>
          </a:bodyPr>
          <a:lstStyle/>
          <a:p>
            <a:pPr marL="0" indent="0">
              <a:buNone/>
            </a:pPr>
            <a:r>
              <a:rPr lang="en-US" sz="2200" b="1" dirty="0"/>
              <a:t>a) Internal Sources: </a:t>
            </a:r>
            <a:r>
              <a:rPr lang="en-US" sz="2200" dirty="0"/>
              <a:t>Data generated within the organization, such as sales reports, employee records, and inventory data.</a:t>
            </a:r>
          </a:p>
          <a:p>
            <a:pPr>
              <a:buAutoNum type="alphaLcParenR"/>
            </a:pPr>
            <a:endParaRPr lang="en-US" sz="2200" dirty="0"/>
          </a:p>
          <a:p>
            <a:pPr marL="0" indent="0">
              <a:buNone/>
            </a:pPr>
            <a:r>
              <a:rPr lang="en-US" sz="2200" b="1" dirty="0"/>
              <a:t>b) External Sources: </a:t>
            </a:r>
            <a:r>
              <a:rPr lang="en-US" sz="2200" dirty="0"/>
              <a:t>Data collected from outside the company, like market reports, government data, and competitor information.</a:t>
            </a:r>
          </a:p>
          <a:p>
            <a:pPr marL="0" indent="0">
              <a:buNone/>
            </a:pPr>
            <a:endParaRPr lang="en-US" sz="2200" dirty="0"/>
          </a:p>
          <a:p>
            <a:pPr marL="0" indent="0">
              <a:buNone/>
            </a:pPr>
            <a:r>
              <a:rPr lang="en-US" sz="2200" b="1" dirty="0"/>
              <a:t>c) Primary Sources: </a:t>
            </a:r>
            <a:r>
              <a:rPr lang="en-US" sz="2200" dirty="0"/>
              <a:t>Data collected directly through surveys, interviews, and observations.</a:t>
            </a:r>
          </a:p>
          <a:p>
            <a:pPr marL="0" indent="0">
              <a:buNone/>
            </a:pPr>
            <a:endParaRPr lang="en-US" sz="2200" dirty="0"/>
          </a:p>
          <a:p>
            <a:pPr marL="0" indent="0">
              <a:buNone/>
            </a:pPr>
            <a:r>
              <a:rPr lang="en-US" sz="2200" b="1" dirty="0"/>
              <a:t>d) Secondary Sources: </a:t>
            </a:r>
            <a:r>
              <a:rPr lang="en-US" sz="2200" dirty="0"/>
              <a:t>Data already collected by others, such as research papers and online reports.</a:t>
            </a:r>
          </a:p>
          <a:p>
            <a:pPr marL="0" indent="0">
              <a:buNone/>
            </a:pPr>
            <a:endParaRPr lang="en-US" sz="2200" dirty="0"/>
          </a:p>
          <a:p>
            <a:pPr marL="0" indent="0">
              <a:buNone/>
            </a:pPr>
            <a:endParaRPr lang="en-US" sz="2200" dirty="0"/>
          </a:p>
          <a:p>
            <a:pPr marL="0" indent="0">
              <a:buNone/>
            </a:pPr>
            <a:endParaRPr lang="en-IN" sz="2200" dirty="0"/>
          </a:p>
        </p:txBody>
      </p:sp>
    </p:spTree>
    <p:extLst>
      <p:ext uri="{BB962C8B-B14F-4D97-AF65-F5344CB8AC3E}">
        <p14:creationId xmlns:p14="http://schemas.microsoft.com/office/powerpoint/2010/main" val="3554017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9091-898A-B106-827E-72C327FDD7BF}"/>
              </a:ext>
            </a:extLst>
          </p:cNvPr>
          <p:cNvSpPr>
            <a:spLocks noGrp="1"/>
          </p:cNvSpPr>
          <p:nvPr>
            <p:ph type="title"/>
          </p:nvPr>
        </p:nvSpPr>
        <p:spPr>
          <a:xfrm>
            <a:off x="579362" y="315686"/>
            <a:ext cx="8596668" cy="718457"/>
          </a:xfrm>
        </p:spPr>
        <p:txBody>
          <a:bodyPr>
            <a:normAutofit/>
          </a:bodyPr>
          <a:lstStyle/>
          <a:p>
            <a:r>
              <a:rPr lang="en-IN" sz="2800" dirty="0"/>
              <a:t>Data Collection Methods</a:t>
            </a:r>
          </a:p>
        </p:txBody>
      </p:sp>
      <p:sp>
        <p:nvSpPr>
          <p:cNvPr id="3" name="Content Placeholder 2">
            <a:extLst>
              <a:ext uri="{FF2B5EF4-FFF2-40B4-BE49-F238E27FC236}">
                <a16:creationId xmlns:a16="http://schemas.microsoft.com/office/drawing/2014/main" id="{1DD35B79-8E85-63FA-DD1C-C940C5CE73EC}"/>
              </a:ext>
            </a:extLst>
          </p:cNvPr>
          <p:cNvSpPr>
            <a:spLocks noGrp="1"/>
          </p:cNvSpPr>
          <p:nvPr>
            <p:ph idx="1"/>
          </p:nvPr>
        </p:nvSpPr>
        <p:spPr>
          <a:xfrm>
            <a:off x="579363" y="1121230"/>
            <a:ext cx="9185124" cy="5236027"/>
          </a:xfrm>
        </p:spPr>
        <p:txBody>
          <a:bodyPr>
            <a:noAutofit/>
          </a:bodyPr>
          <a:lstStyle/>
          <a:p>
            <a:pPr marL="0" indent="0">
              <a:buNone/>
            </a:pPr>
            <a:r>
              <a:rPr lang="en-US" sz="2200" b="1" dirty="0"/>
              <a:t>a) Surveys &amp; Questionnaires: </a:t>
            </a:r>
            <a:r>
              <a:rPr lang="en-US" sz="2200" dirty="0"/>
              <a:t>Collect data from a large number of people using online or offline forms. Useful for gathering opinions and feedback.</a:t>
            </a:r>
            <a:endParaRPr lang="en-IN" sz="2200" dirty="0"/>
          </a:p>
          <a:p>
            <a:pPr marL="0" indent="0">
              <a:buNone/>
            </a:pPr>
            <a:r>
              <a:rPr lang="en-IN" sz="2200" b="1" dirty="0"/>
              <a:t>b) </a:t>
            </a:r>
            <a:r>
              <a:rPr lang="en-US" sz="2200" b="1" dirty="0"/>
              <a:t>Interviews: </a:t>
            </a:r>
            <a:r>
              <a:rPr lang="en-US" sz="2200" dirty="0"/>
              <a:t>Direct interaction with individuals to collect detailed and in depth information.</a:t>
            </a:r>
          </a:p>
          <a:p>
            <a:pPr marL="0" indent="0">
              <a:buNone/>
            </a:pPr>
            <a:r>
              <a:rPr lang="en-US" sz="2200" b="1" dirty="0"/>
              <a:t>c) Observation: </a:t>
            </a:r>
            <a:r>
              <a:rPr lang="en-US" sz="2200" dirty="0"/>
              <a:t>Collecting data by observing behavior, processes, or events in real time.</a:t>
            </a:r>
          </a:p>
          <a:p>
            <a:pPr marL="0" indent="0">
              <a:buNone/>
            </a:pPr>
            <a:r>
              <a:rPr lang="en-US" sz="2200" b="1" dirty="0"/>
              <a:t>d) Experiments: </a:t>
            </a:r>
            <a:r>
              <a:rPr lang="en-US" sz="2200" dirty="0"/>
              <a:t>Testing under controlled conditions to study cause and effect relationships.</a:t>
            </a:r>
          </a:p>
          <a:p>
            <a:pPr marL="0" indent="0">
              <a:buNone/>
            </a:pPr>
            <a:r>
              <a:rPr lang="en-US" sz="2200" b="1" dirty="0"/>
              <a:t>e) Automated Data Collection: </a:t>
            </a:r>
            <a:r>
              <a:rPr lang="en-US" sz="2200" dirty="0"/>
              <a:t>Using software, websites, sensors, or systems to collect data automatically (e.g., website analytics, app data).</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IN" sz="2200" dirty="0"/>
          </a:p>
        </p:txBody>
      </p:sp>
    </p:spTree>
    <p:extLst>
      <p:ext uri="{BB962C8B-B14F-4D97-AF65-F5344CB8AC3E}">
        <p14:creationId xmlns:p14="http://schemas.microsoft.com/office/powerpoint/2010/main" val="1131984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92ADE-DADF-6021-CE4F-25A2DA108F42}"/>
              </a:ext>
            </a:extLst>
          </p:cNvPr>
          <p:cNvSpPr>
            <a:spLocks noGrp="1"/>
          </p:cNvSpPr>
          <p:nvPr>
            <p:ph type="title"/>
          </p:nvPr>
        </p:nvSpPr>
        <p:spPr>
          <a:xfrm>
            <a:off x="2397276" y="272143"/>
            <a:ext cx="8596668" cy="653143"/>
          </a:xfrm>
        </p:spPr>
        <p:txBody>
          <a:bodyPr>
            <a:normAutofit/>
          </a:bodyPr>
          <a:lstStyle/>
          <a:p>
            <a:r>
              <a:rPr lang="en-IN" sz="2800" dirty="0"/>
              <a:t>Data Lifecycle Management</a:t>
            </a:r>
          </a:p>
        </p:txBody>
      </p:sp>
      <p:pic>
        <p:nvPicPr>
          <p:cNvPr id="5" name="Content Placeholder 4">
            <a:extLst>
              <a:ext uri="{FF2B5EF4-FFF2-40B4-BE49-F238E27FC236}">
                <a16:creationId xmlns:a16="http://schemas.microsoft.com/office/drawing/2014/main" id="{828F3CE5-F879-392A-FDDA-4DF55BF1B4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9830" y="1078826"/>
            <a:ext cx="7260770" cy="52784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76134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86C71D-A89F-3BBD-B2ED-22CA6A5DBE64}"/>
              </a:ext>
            </a:extLst>
          </p:cNvPr>
          <p:cNvSpPr>
            <a:spLocks noGrp="1"/>
          </p:cNvSpPr>
          <p:nvPr>
            <p:ph idx="1"/>
          </p:nvPr>
        </p:nvSpPr>
        <p:spPr>
          <a:xfrm>
            <a:off x="391887" y="228601"/>
            <a:ext cx="9797142" cy="6183086"/>
          </a:xfrm>
        </p:spPr>
        <p:txBody>
          <a:bodyPr>
            <a:noAutofit/>
          </a:bodyPr>
          <a:lstStyle/>
          <a:p>
            <a:pPr marL="0" indent="0">
              <a:lnSpc>
                <a:spcPct val="150000"/>
              </a:lnSpc>
              <a:buNone/>
            </a:pPr>
            <a:r>
              <a:rPr lang="en-IN" sz="2200" dirty="0"/>
              <a:t>Stages are :-</a:t>
            </a:r>
          </a:p>
          <a:p>
            <a:pPr marL="0" indent="0">
              <a:lnSpc>
                <a:spcPct val="150000"/>
              </a:lnSpc>
              <a:buNone/>
            </a:pPr>
            <a:r>
              <a:rPr lang="en-IN" sz="2200" b="1" dirty="0"/>
              <a:t>a) </a:t>
            </a:r>
            <a:r>
              <a:rPr lang="en-US" altLang="en-US" sz="2200" b="1" dirty="0">
                <a:solidFill>
                  <a:schemeClr val="tx1"/>
                </a:solidFill>
              </a:rPr>
              <a:t>Data Creation/Collection: </a:t>
            </a:r>
            <a:r>
              <a:rPr lang="en-US" altLang="en-US" sz="2200" dirty="0">
                <a:solidFill>
                  <a:schemeClr val="tx1"/>
                </a:solidFill>
              </a:rPr>
              <a:t>Data is generated from sources like transactions, surveys, or systems.</a:t>
            </a:r>
          </a:p>
          <a:p>
            <a:pPr marL="0" indent="0">
              <a:lnSpc>
                <a:spcPct val="150000"/>
              </a:lnSpc>
              <a:buNone/>
            </a:pPr>
            <a:r>
              <a:rPr lang="en-US" sz="2200" b="1" dirty="0">
                <a:solidFill>
                  <a:schemeClr val="tx1"/>
                </a:solidFill>
              </a:rPr>
              <a:t>b) </a:t>
            </a:r>
            <a:r>
              <a:rPr lang="en-US" altLang="en-US" sz="2200" b="1" dirty="0">
                <a:solidFill>
                  <a:schemeClr val="tx1"/>
                </a:solidFill>
              </a:rPr>
              <a:t>Storage: </a:t>
            </a:r>
            <a:r>
              <a:rPr lang="en-US" altLang="en-US" sz="2200" dirty="0">
                <a:solidFill>
                  <a:schemeClr val="tx1"/>
                </a:solidFill>
              </a:rPr>
              <a:t>Data is stored in databases, cloud systems, or data warehouses.</a:t>
            </a:r>
            <a:endParaRPr lang="en-IN" altLang="en-US" sz="2200" dirty="0">
              <a:solidFill>
                <a:schemeClr val="tx1"/>
              </a:solidFill>
            </a:endParaRPr>
          </a:p>
          <a:p>
            <a:pPr marL="0" indent="0">
              <a:lnSpc>
                <a:spcPct val="150000"/>
              </a:lnSpc>
              <a:buNone/>
            </a:pPr>
            <a:r>
              <a:rPr lang="en-IN" altLang="en-US" sz="2200" b="1" dirty="0">
                <a:solidFill>
                  <a:schemeClr val="tx1"/>
                </a:solidFill>
              </a:rPr>
              <a:t>c) </a:t>
            </a:r>
            <a:r>
              <a:rPr lang="en-US" altLang="en-US" sz="2200" b="1" dirty="0">
                <a:solidFill>
                  <a:schemeClr val="tx1"/>
                </a:solidFill>
              </a:rPr>
              <a:t>Processing/Usage: </a:t>
            </a:r>
            <a:r>
              <a:rPr lang="en-US" altLang="en-US" sz="2200" dirty="0">
                <a:solidFill>
                  <a:schemeClr val="tx1"/>
                </a:solidFill>
              </a:rPr>
              <a:t>Data is analyzed and used for reporting and decision making.</a:t>
            </a:r>
          </a:p>
          <a:p>
            <a:pPr marL="0" indent="0">
              <a:lnSpc>
                <a:spcPct val="150000"/>
              </a:lnSpc>
              <a:buNone/>
            </a:pPr>
            <a:r>
              <a:rPr lang="en-US" altLang="en-US" sz="2200" b="1" dirty="0">
                <a:solidFill>
                  <a:schemeClr val="tx1"/>
                </a:solidFill>
              </a:rPr>
              <a:t>d) Sharing: </a:t>
            </a:r>
            <a:r>
              <a:rPr lang="en-US" altLang="en-US" sz="2200" dirty="0">
                <a:solidFill>
                  <a:schemeClr val="tx1"/>
                </a:solidFill>
              </a:rPr>
              <a:t>Data is shared across departments or with stakeholders when required.</a:t>
            </a:r>
          </a:p>
          <a:p>
            <a:pPr marL="0" indent="0">
              <a:lnSpc>
                <a:spcPct val="150000"/>
              </a:lnSpc>
              <a:buNone/>
            </a:pPr>
            <a:r>
              <a:rPr lang="en-US" altLang="en-US" sz="2200" b="1" dirty="0">
                <a:solidFill>
                  <a:schemeClr val="tx1"/>
                </a:solidFill>
              </a:rPr>
              <a:t>e) Archiving: </a:t>
            </a:r>
            <a:r>
              <a:rPr lang="en-US" altLang="en-US" sz="2200" dirty="0">
                <a:solidFill>
                  <a:schemeClr val="tx1"/>
                </a:solidFill>
              </a:rPr>
              <a:t>Old or inactive data is stored securely for future reference.</a:t>
            </a:r>
          </a:p>
          <a:p>
            <a:pPr marL="0" indent="0">
              <a:lnSpc>
                <a:spcPct val="150000"/>
              </a:lnSpc>
              <a:buNone/>
            </a:pPr>
            <a:r>
              <a:rPr lang="en-US" altLang="en-US" sz="2200" b="1" dirty="0">
                <a:solidFill>
                  <a:schemeClr val="tx1"/>
                </a:solidFill>
              </a:rPr>
              <a:t>f) Deletion/Destruction: </a:t>
            </a:r>
            <a:r>
              <a:rPr lang="en-US" altLang="en-US" sz="2200" dirty="0">
                <a:solidFill>
                  <a:schemeClr val="tx1"/>
                </a:solidFill>
              </a:rPr>
              <a:t>Data is permanently removed when it is no longer needed.</a:t>
            </a:r>
          </a:p>
          <a:p>
            <a:pPr marL="0" indent="0">
              <a:lnSpc>
                <a:spcPct val="150000"/>
              </a:lnSpc>
              <a:buNone/>
            </a:pPr>
            <a:endParaRPr lang="en-US" altLang="en-US" sz="2200" dirty="0">
              <a:solidFill>
                <a:schemeClr val="tx1"/>
              </a:solidFill>
            </a:endParaRPr>
          </a:p>
          <a:p>
            <a:pPr marL="0" indent="0">
              <a:lnSpc>
                <a:spcPct val="150000"/>
              </a:lnSpc>
              <a:buNone/>
            </a:pPr>
            <a:endParaRPr lang="en-IN" altLang="en-US" sz="2200" dirty="0">
              <a:solidFill>
                <a:schemeClr val="tx1"/>
              </a:solidFill>
            </a:endParaRPr>
          </a:p>
        </p:txBody>
      </p:sp>
    </p:spTree>
    <p:extLst>
      <p:ext uri="{BB962C8B-B14F-4D97-AF65-F5344CB8AC3E}">
        <p14:creationId xmlns:p14="http://schemas.microsoft.com/office/powerpoint/2010/main" val="1416369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D9A45-0D3C-910A-24EF-A7CF5E0B1B75}"/>
              </a:ext>
            </a:extLst>
          </p:cNvPr>
          <p:cNvSpPr>
            <a:spLocks noGrp="1"/>
          </p:cNvSpPr>
          <p:nvPr>
            <p:ph type="title"/>
          </p:nvPr>
        </p:nvSpPr>
        <p:spPr>
          <a:xfrm>
            <a:off x="677334" y="217924"/>
            <a:ext cx="8596668" cy="598714"/>
          </a:xfrm>
        </p:spPr>
        <p:txBody>
          <a:bodyPr>
            <a:normAutofit/>
          </a:bodyPr>
          <a:lstStyle/>
          <a:p>
            <a:r>
              <a:rPr lang="en-IN" sz="2800" dirty="0"/>
              <a:t>03. Introduction </a:t>
            </a:r>
            <a:r>
              <a:rPr lang="en-US" sz="2800" dirty="0"/>
              <a:t>to Business Analyst Role</a:t>
            </a:r>
            <a:r>
              <a:rPr lang="en-IN" sz="2800" dirty="0"/>
              <a:t> </a:t>
            </a:r>
          </a:p>
        </p:txBody>
      </p:sp>
      <p:sp>
        <p:nvSpPr>
          <p:cNvPr id="3" name="Content Placeholder 2">
            <a:extLst>
              <a:ext uri="{FF2B5EF4-FFF2-40B4-BE49-F238E27FC236}">
                <a16:creationId xmlns:a16="http://schemas.microsoft.com/office/drawing/2014/main" id="{3A309219-9901-50BB-11F3-742AA562588C}"/>
              </a:ext>
            </a:extLst>
          </p:cNvPr>
          <p:cNvSpPr>
            <a:spLocks noGrp="1"/>
          </p:cNvSpPr>
          <p:nvPr>
            <p:ph idx="1"/>
          </p:nvPr>
        </p:nvSpPr>
        <p:spPr>
          <a:xfrm>
            <a:off x="677333" y="914400"/>
            <a:ext cx="8771467" cy="5725676"/>
          </a:xfrm>
        </p:spPr>
        <p:txBody>
          <a:bodyPr>
            <a:normAutofit/>
          </a:bodyPr>
          <a:lstStyle/>
          <a:p>
            <a:pPr marL="0" indent="0">
              <a:lnSpc>
                <a:spcPct val="150000"/>
              </a:lnSpc>
              <a:buNone/>
            </a:pPr>
            <a:r>
              <a:rPr lang="en-US" sz="2200" dirty="0"/>
              <a:t>A </a:t>
            </a:r>
            <a:r>
              <a:rPr lang="en-US" sz="2200" b="1" dirty="0"/>
              <a:t>Business Analyst (BA)</a:t>
            </a:r>
            <a:r>
              <a:rPr lang="en-US" sz="2200" dirty="0"/>
              <a:t> is a professional who identifies business needs and helps design effective solutions by bridging the gap between business teams and technical teams.</a:t>
            </a:r>
          </a:p>
          <a:p>
            <a:pPr marL="0" indent="0">
              <a:lnSpc>
                <a:spcPct val="150000"/>
              </a:lnSpc>
              <a:buNone/>
            </a:pPr>
            <a:r>
              <a:rPr lang="en-US" sz="2200" dirty="0"/>
              <a:t>Key Responsibility :-</a:t>
            </a:r>
          </a:p>
          <a:p>
            <a:pPr>
              <a:lnSpc>
                <a:spcPct val="150000"/>
              </a:lnSpc>
              <a:buFont typeface="Wingdings" panose="05000000000000000000" pitchFamily="2" charset="2"/>
              <a:buChar char="Ø"/>
            </a:pPr>
            <a:r>
              <a:rPr lang="en-US" altLang="en-US" sz="2200" dirty="0">
                <a:solidFill>
                  <a:schemeClr val="tx1"/>
                </a:solidFill>
                <a:latin typeface="Arial" panose="020B0604020202020204" pitchFamily="34" charset="0"/>
              </a:rPr>
              <a:t>Gather and analyze business requirements.</a:t>
            </a:r>
          </a:p>
          <a:p>
            <a:pPr>
              <a:lnSpc>
                <a:spcPct val="150000"/>
              </a:lnSpc>
              <a:buFont typeface="Wingdings" panose="05000000000000000000" pitchFamily="2" charset="2"/>
              <a:buChar char="Ø"/>
            </a:pPr>
            <a:r>
              <a:rPr lang="en-US" altLang="en-US" sz="2200" dirty="0">
                <a:solidFill>
                  <a:schemeClr val="tx1"/>
                </a:solidFill>
                <a:latin typeface="Arial" panose="020B0604020202020204" pitchFamily="34" charset="0"/>
              </a:rPr>
              <a:t>Communicate between stakeholders and developers.</a:t>
            </a:r>
          </a:p>
          <a:p>
            <a:pPr>
              <a:lnSpc>
                <a:spcPct val="150000"/>
              </a:lnSpc>
              <a:buFont typeface="Wingdings" panose="05000000000000000000" pitchFamily="2" charset="2"/>
              <a:buChar char="Ø"/>
            </a:pPr>
            <a:r>
              <a:rPr lang="en-US" altLang="en-US" sz="2200" dirty="0">
                <a:solidFill>
                  <a:schemeClr val="tx1"/>
                </a:solidFill>
                <a:latin typeface="Arial" panose="020B0604020202020204" pitchFamily="34" charset="0"/>
              </a:rPr>
              <a:t>Prepare documentation like BRD and reports.</a:t>
            </a:r>
          </a:p>
          <a:p>
            <a:pPr>
              <a:lnSpc>
                <a:spcPct val="150000"/>
              </a:lnSpc>
              <a:buFont typeface="Wingdings" panose="05000000000000000000" pitchFamily="2" charset="2"/>
              <a:buChar char="Ø"/>
            </a:pPr>
            <a:r>
              <a:rPr lang="en-US" altLang="en-US" sz="2200" dirty="0">
                <a:solidFill>
                  <a:schemeClr val="tx1"/>
                </a:solidFill>
                <a:latin typeface="Arial" panose="020B0604020202020204" pitchFamily="34" charset="0"/>
              </a:rPr>
              <a:t>Analyze data to support decision making.</a:t>
            </a:r>
          </a:p>
          <a:p>
            <a:pPr>
              <a:lnSpc>
                <a:spcPct val="150000"/>
              </a:lnSpc>
              <a:buFont typeface="Wingdings" panose="05000000000000000000" pitchFamily="2" charset="2"/>
              <a:buChar char="Ø"/>
            </a:pPr>
            <a:r>
              <a:rPr lang="en-US" altLang="en-US" sz="2200" dirty="0">
                <a:solidFill>
                  <a:schemeClr val="tx1"/>
                </a:solidFill>
                <a:latin typeface="Arial" panose="020B0604020202020204" pitchFamily="34" charset="0"/>
              </a:rPr>
              <a:t>Suggest process improvements to increase efficiency.</a:t>
            </a:r>
          </a:p>
        </p:txBody>
      </p:sp>
    </p:spTree>
    <p:extLst>
      <p:ext uri="{BB962C8B-B14F-4D97-AF65-F5344CB8AC3E}">
        <p14:creationId xmlns:p14="http://schemas.microsoft.com/office/powerpoint/2010/main" val="1262689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365BE2-0749-48AD-6DF4-9709740DCF9E}"/>
              </a:ext>
            </a:extLst>
          </p:cNvPr>
          <p:cNvSpPr>
            <a:spLocks noGrp="1"/>
          </p:cNvSpPr>
          <p:nvPr>
            <p:ph idx="1"/>
          </p:nvPr>
        </p:nvSpPr>
        <p:spPr>
          <a:xfrm>
            <a:off x="840619" y="242094"/>
            <a:ext cx="8945638" cy="6373811"/>
          </a:xfrm>
        </p:spPr>
        <p:txBody>
          <a:bodyPr>
            <a:normAutofit/>
          </a:bodyPr>
          <a:lstStyle/>
          <a:p>
            <a:pPr marL="0" indent="0">
              <a:lnSpc>
                <a:spcPct val="150000"/>
              </a:lnSpc>
              <a:buNone/>
            </a:pPr>
            <a:r>
              <a:rPr lang="en-IN" sz="2200" dirty="0">
                <a:solidFill>
                  <a:schemeClr val="tx1"/>
                </a:solidFill>
              </a:rPr>
              <a:t>Key Skills :-</a:t>
            </a:r>
          </a:p>
          <a:p>
            <a:pPr marL="0" indent="0">
              <a:lnSpc>
                <a:spcPct val="150000"/>
              </a:lnSpc>
              <a:buNone/>
            </a:pPr>
            <a:r>
              <a:rPr lang="en-IN" sz="2200" dirty="0">
                <a:solidFill>
                  <a:schemeClr val="tx1"/>
                </a:solidFill>
              </a:rPr>
              <a:t>a) Analytical Skills</a:t>
            </a:r>
          </a:p>
          <a:p>
            <a:pPr marL="0" indent="0">
              <a:lnSpc>
                <a:spcPct val="150000"/>
              </a:lnSpc>
              <a:buNone/>
            </a:pPr>
            <a:r>
              <a:rPr lang="en-IN" sz="2200" dirty="0">
                <a:solidFill>
                  <a:schemeClr val="tx1"/>
                </a:solidFill>
              </a:rPr>
              <a:t>b) Communication Skills</a:t>
            </a:r>
          </a:p>
          <a:p>
            <a:pPr marL="0" indent="0">
              <a:lnSpc>
                <a:spcPct val="150000"/>
              </a:lnSpc>
              <a:buNone/>
            </a:pPr>
            <a:r>
              <a:rPr lang="en-IN" sz="2200" dirty="0">
                <a:solidFill>
                  <a:schemeClr val="tx1"/>
                </a:solidFill>
              </a:rPr>
              <a:t>c) Problem-Solving Skills</a:t>
            </a:r>
          </a:p>
          <a:p>
            <a:pPr marL="0" indent="0">
              <a:lnSpc>
                <a:spcPct val="150000"/>
              </a:lnSpc>
              <a:buNone/>
            </a:pPr>
            <a:r>
              <a:rPr lang="en-IN" sz="2200" dirty="0">
                <a:solidFill>
                  <a:schemeClr val="tx1"/>
                </a:solidFill>
              </a:rPr>
              <a:t>d) Technical Knowledge</a:t>
            </a:r>
          </a:p>
          <a:p>
            <a:pPr marL="0" indent="0">
              <a:lnSpc>
                <a:spcPct val="150000"/>
              </a:lnSpc>
              <a:buNone/>
            </a:pPr>
            <a:r>
              <a:rPr lang="en-IN" sz="2200" dirty="0">
                <a:solidFill>
                  <a:schemeClr val="tx1"/>
                </a:solidFill>
              </a:rPr>
              <a:t>e) Documentation Skills</a:t>
            </a:r>
          </a:p>
          <a:p>
            <a:pPr marL="0" indent="0">
              <a:lnSpc>
                <a:spcPct val="150000"/>
              </a:lnSpc>
              <a:buNone/>
            </a:pPr>
            <a:r>
              <a:rPr lang="en-IN" sz="2200" dirty="0">
                <a:solidFill>
                  <a:schemeClr val="tx1"/>
                </a:solidFill>
              </a:rPr>
              <a:t>f) Stakeholder Management </a:t>
            </a:r>
          </a:p>
        </p:txBody>
      </p:sp>
    </p:spTree>
    <p:extLst>
      <p:ext uri="{BB962C8B-B14F-4D97-AF65-F5344CB8AC3E}">
        <p14:creationId xmlns:p14="http://schemas.microsoft.com/office/powerpoint/2010/main" val="65036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F6A50-F5DD-E052-F69C-3E6AE3BBF9D3}"/>
              </a:ext>
            </a:extLst>
          </p:cNvPr>
          <p:cNvSpPr>
            <a:spLocks noGrp="1"/>
          </p:cNvSpPr>
          <p:nvPr>
            <p:ph type="title"/>
          </p:nvPr>
        </p:nvSpPr>
        <p:spPr>
          <a:xfrm>
            <a:off x="1797666" y="261467"/>
            <a:ext cx="8596668" cy="555171"/>
          </a:xfrm>
        </p:spPr>
        <p:txBody>
          <a:bodyPr>
            <a:normAutofit/>
          </a:bodyPr>
          <a:lstStyle/>
          <a:p>
            <a:r>
              <a:rPr lang="en-IN" sz="2800" dirty="0"/>
              <a:t>Agile vs Waterfall Method </a:t>
            </a:r>
          </a:p>
        </p:txBody>
      </p:sp>
      <p:pic>
        <p:nvPicPr>
          <p:cNvPr id="5" name="Content Placeholder 4">
            <a:extLst>
              <a:ext uri="{FF2B5EF4-FFF2-40B4-BE49-F238E27FC236}">
                <a16:creationId xmlns:a16="http://schemas.microsoft.com/office/drawing/2014/main" id="{E3E340FD-D6E4-2249-A65B-EF0F376D1D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8074" y="1210296"/>
            <a:ext cx="8079355" cy="5386237"/>
          </a:xfrm>
          <a:prstGeom prst="rect">
            <a:avLst/>
          </a:prstGeom>
        </p:spPr>
      </p:pic>
    </p:spTree>
    <p:extLst>
      <p:ext uri="{BB962C8B-B14F-4D97-AF65-F5344CB8AC3E}">
        <p14:creationId xmlns:p14="http://schemas.microsoft.com/office/powerpoint/2010/main" val="956448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74611-1350-57F8-67B9-A9DD4AEB230A}"/>
              </a:ext>
            </a:extLst>
          </p:cNvPr>
          <p:cNvSpPr>
            <a:spLocks noGrp="1"/>
          </p:cNvSpPr>
          <p:nvPr>
            <p:ph type="title"/>
          </p:nvPr>
        </p:nvSpPr>
        <p:spPr>
          <a:xfrm>
            <a:off x="677334" y="272352"/>
            <a:ext cx="8107437" cy="544286"/>
          </a:xfrm>
        </p:spPr>
        <p:txBody>
          <a:bodyPr>
            <a:normAutofit/>
          </a:bodyPr>
          <a:lstStyle/>
          <a:p>
            <a:r>
              <a:rPr lang="en-IN" sz="2800" dirty="0"/>
              <a:t>Stakeholder Management</a:t>
            </a:r>
          </a:p>
        </p:txBody>
      </p:sp>
      <p:sp>
        <p:nvSpPr>
          <p:cNvPr id="3" name="Content Placeholder 2">
            <a:extLst>
              <a:ext uri="{FF2B5EF4-FFF2-40B4-BE49-F238E27FC236}">
                <a16:creationId xmlns:a16="http://schemas.microsoft.com/office/drawing/2014/main" id="{59A28B65-303F-3931-DF9B-34671A8204D8}"/>
              </a:ext>
            </a:extLst>
          </p:cNvPr>
          <p:cNvSpPr>
            <a:spLocks noGrp="1"/>
          </p:cNvSpPr>
          <p:nvPr>
            <p:ph idx="1"/>
          </p:nvPr>
        </p:nvSpPr>
        <p:spPr>
          <a:xfrm>
            <a:off x="677333" y="1028475"/>
            <a:ext cx="10023323" cy="5557173"/>
          </a:xfrm>
        </p:spPr>
        <p:txBody>
          <a:bodyPr>
            <a:noAutofit/>
          </a:bodyPr>
          <a:lstStyle/>
          <a:p>
            <a:pPr marL="0" indent="0">
              <a:buNone/>
            </a:pPr>
            <a:r>
              <a:rPr lang="en-US" sz="2200" b="1" dirty="0"/>
              <a:t>Stakeholder Management </a:t>
            </a:r>
            <a:r>
              <a:rPr lang="en-US" sz="2200" dirty="0"/>
              <a:t>is the process of identifying, analyzing, and engaging people or groups who have an interest in a project or business activity.</a:t>
            </a:r>
          </a:p>
          <a:p>
            <a:pPr marL="0" indent="0">
              <a:buNone/>
            </a:pPr>
            <a:r>
              <a:rPr lang="en-US" sz="2200" dirty="0"/>
              <a:t>Key Activities :-</a:t>
            </a:r>
          </a:p>
          <a:p>
            <a:pPr>
              <a:buFont typeface="Wingdings" panose="05000000000000000000" pitchFamily="2" charset="2"/>
              <a:buChar char="Ø"/>
            </a:pPr>
            <a:r>
              <a:rPr lang="en-US" sz="2200" dirty="0"/>
              <a:t>Identifying stakeholders (clients, managers, team members, investors)</a:t>
            </a:r>
          </a:p>
          <a:p>
            <a:pPr>
              <a:buFont typeface="Wingdings" panose="05000000000000000000" pitchFamily="2" charset="2"/>
              <a:buChar char="Ø"/>
            </a:pPr>
            <a:r>
              <a:rPr lang="en-US" sz="2200" dirty="0"/>
              <a:t>Understanding their needs and expectations</a:t>
            </a:r>
          </a:p>
          <a:p>
            <a:pPr>
              <a:buFont typeface="Wingdings" panose="05000000000000000000" pitchFamily="2" charset="2"/>
              <a:buChar char="Ø"/>
            </a:pPr>
            <a:r>
              <a:rPr lang="en-US" sz="2200" dirty="0"/>
              <a:t>Communicating project updates regularly</a:t>
            </a:r>
          </a:p>
          <a:p>
            <a:pPr>
              <a:buFont typeface="Wingdings" panose="05000000000000000000" pitchFamily="2" charset="2"/>
              <a:buChar char="Ø"/>
            </a:pPr>
            <a:r>
              <a:rPr lang="en-US" sz="2200" dirty="0"/>
              <a:t>Managing conflicts and resolving issues</a:t>
            </a:r>
          </a:p>
          <a:p>
            <a:pPr>
              <a:buFont typeface="Wingdings" panose="05000000000000000000" pitchFamily="2" charset="2"/>
              <a:buChar char="Ø"/>
            </a:pPr>
            <a:r>
              <a:rPr lang="en-US" sz="2200" dirty="0"/>
              <a:t>Ensuring stakeholder satisfaction and support</a:t>
            </a:r>
          </a:p>
          <a:p>
            <a:pPr marL="0" indent="0">
              <a:buNone/>
            </a:pPr>
            <a:r>
              <a:rPr lang="en-US" sz="2200" dirty="0"/>
              <a:t>Importance :-</a:t>
            </a:r>
          </a:p>
          <a:p>
            <a:pPr>
              <a:buFont typeface="Wingdings" panose="05000000000000000000" pitchFamily="2" charset="2"/>
              <a:buChar char="Ø"/>
            </a:pPr>
            <a:r>
              <a:rPr lang="en-US" sz="2200" dirty="0"/>
              <a:t>Improves communication and collaboration</a:t>
            </a:r>
          </a:p>
          <a:p>
            <a:pPr>
              <a:buFont typeface="Wingdings" panose="05000000000000000000" pitchFamily="2" charset="2"/>
              <a:buChar char="Ø"/>
            </a:pPr>
            <a:r>
              <a:rPr lang="en-US" sz="2200" dirty="0"/>
              <a:t>Reduces project risks</a:t>
            </a:r>
          </a:p>
          <a:p>
            <a:pPr>
              <a:buFont typeface="Wingdings" panose="05000000000000000000" pitchFamily="2" charset="2"/>
              <a:buChar char="Ø"/>
            </a:pPr>
            <a:r>
              <a:rPr lang="en-US" sz="2200" dirty="0"/>
              <a:t>Increases chances of project success</a:t>
            </a:r>
          </a:p>
          <a:p>
            <a:pPr marL="0" indent="0">
              <a:buNone/>
            </a:pPr>
            <a:endParaRPr lang="en-IN" sz="2200" dirty="0"/>
          </a:p>
        </p:txBody>
      </p:sp>
    </p:spTree>
    <p:extLst>
      <p:ext uri="{BB962C8B-B14F-4D97-AF65-F5344CB8AC3E}">
        <p14:creationId xmlns:p14="http://schemas.microsoft.com/office/powerpoint/2010/main" val="705460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BE5CF-A5FC-CA9E-CD20-19DE3C4084F9}"/>
              </a:ext>
            </a:extLst>
          </p:cNvPr>
          <p:cNvSpPr>
            <a:spLocks noGrp="1"/>
          </p:cNvSpPr>
          <p:nvPr>
            <p:ph type="title"/>
          </p:nvPr>
        </p:nvSpPr>
        <p:spPr>
          <a:xfrm>
            <a:off x="677334" y="359228"/>
            <a:ext cx="8596668" cy="576943"/>
          </a:xfrm>
        </p:spPr>
        <p:txBody>
          <a:bodyPr>
            <a:noAutofit/>
          </a:bodyPr>
          <a:lstStyle/>
          <a:p>
            <a:r>
              <a:rPr lang="en-US" sz="2800" dirty="0"/>
              <a:t>04. Data vs. Information</a:t>
            </a:r>
            <a:br>
              <a:rPr lang="en-US" sz="2800" dirty="0">
                <a:solidFill>
                  <a:schemeClr val="tx1"/>
                </a:solidFill>
              </a:rPr>
            </a:br>
            <a:endParaRPr lang="en-IN" sz="2800" dirty="0"/>
          </a:p>
        </p:txBody>
      </p:sp>
      <p:sp>
        <p:nvSpPr>
          <p:cNvPr id="3" name="Content Placeholder 2">
            <a:extLst>
              <a:ext uri="{FF2B5EF4-FFF2-40B4-BE49-F238E27FC236}">
                <a16:creationId xmlns:a16="http://schemas.microsoft.com/office/drawing/2014/main" id="{471D00E9-14CD-6419-E699-BFDD1A9B35BA}"/>
              </a:ext>
            </a:extLst>
          </p:cNvPr>
          <p:cNvSpPr>
            <a:spLocks noGrp="1"/>
          </p:cNvSpPr>
          <p:nvPr>
            <p:ph idx="1"/>
          </p:nvPr>
        </p:nvSpPr>
        <p:spPr>
          <a:xfrm>
            <a:off x="677334" y="1257074"/>
            <a:ext cx="9293980" cy="5089297"/>
          </a:xfrm>
        </p:spPr>
        <p:txBody>
          <a:bodyPr>
            <a:noAutofit/>
          </a:bodyPr>
          <a:lstStyle/>
          <a:p>
            <a:pPr marL="0" indent="0">
              <a:buNone/>
            </a:pPr>
            <a:r>
              <a:rPr lang="en-US" sz="2200" b="1" dirty="0"/>
              <a:t>Data</a:t>
            </a:r>
          </a:p>
          <a:p>
            <a:pPr>
              <a:buFont typeface="Wingdings" panose="05000000000000000000" pitchFamily="2" charset="2"/>
              <a:buChar char="Ø"/>
            </a:pPr>
            <a:r>
              <a:rPr lang="en-US" sz="2200" dirty="0"/>
              <a:t>Raw facts and figures without context.</a:t>
            </a:r>
          </a:p>
          <a:p>
            <a:pPr>
              <a:buFont typeface="Wingdings" panose="05000000000000000000" pitchFamily="2" charset="2"/>
              <a:buChar char="Ø"/>
            </a:pPr>
            <a:r>
              <a:rPr lang="en-US" sz="2200" dirty="0"/>
              <a:t>Unorganized and unprocessed.</a:t>
            </a:r>
          </a:p>
          <a:p>
            <a:pPr>
              <a:buFont typeface="Wingdings" panose="05000000000000000000" pitchFamily="2" charset="2"/>
              <a:buChar char="Ø"/>
            </a:pPr>
            <a:r>
              <a:rPr lang="en-US" sz="2200" dirty="0"/>
              <a:t>May not give clear meaning on its own.</a:t>
            </a:r>
          </a:p>
          <a:p>
            <a:pPr>
              <a:buFont typeface="Wingdings" panose="05000000000000000000" pitchFamily="2" charset="2"/>
              <a:buChar char="Ø"/>
            </a:pPr>
            <a:r>
              <a:rPr lang="en-US" sz="2200" dirty="0"/>
              <a:t>Example: 100, 200, 300.</a:t>
            </a:r>
          </a:p>
          <a:p>
            <a:pPr marL="0" indent="0">
              <a:buNone/>
            </a:pPr>
            <a:r>
              <a:rPr lang="en-US" sz="2200" b="1" dirty="0"/>
              <a:t>Information</a:t>
            </a:r>
          </a:p>
          <a:p>
            <a:pPr>
              <a:buFont typeface="Wingdings" panose="05000000000000000000" pitchFamily="2" charset="2"/>
              <a:buChar char="Ø"/>
            </a:pPr>
            <a:r>
              <a:rPr lang="en-US" sz="2200" dirty="0"/>
              <a:t>Processed and organized data.</a:t>
            </a:r>
          </a:p>
          <a:p>
            <a:pPr>
              <a:buFont typeface="Wingdings" panose="05000000000000000000" pitchFamily="2" charset="2"/>
              <a:buChar char="Ø"/>
            </a:pPr>
            <a:r>
              <a:rPr lang="en-US" sz="2200" dirty="0"/>
              <a:t>Meaningful and useful for decision making.</a:t>
            </a:r>
          </a:p>
          <a:p>
            <a:pPr>
              <a:buFont typeface="Wingdings" panose="05000000000000000000" pitchFamily="2" charset="2"/>
              <a:buChar char="Ø"/>
            </a:pPr>
            <a:r>
              <a:rPr lang="en-US" sz="2200" dirty="0"/>
              <a:t>Provides context and understanding.</a:t>
            </a:r>
          </a:p>
          <a:p>
            <a:pPr>
              <a:buFont typeface="Wingdings" panose="05000000000000000000" pitchFamily="2" charset="2"/>
              <a:buChar char="Ø"/>
            </a:pPr>
            <a:r>
              <a:rPr lang="en-US" sz="2200" dirty="0"/>
              <a:t>Example: Sales increased from 100 to 300 units in 3 months.</a:t>
            </a:r>
          </a:p>
          <a:p>
            <a:pPr marL="0" indent="0">
              <a:buNone/>
            </a:pPr>
            <a:endParaRPr lang="en-IN" sz="2200" dirty="0"/>
          </a:p>
        </p:txBody>
      </p:sp>
    </p:spTree>
    <p:extLst>
      <p:ext uri="{BB962C8B-B14F-4D97-AF65-F5344CB8AC3E}">
        <p14:creationId xmlns:p14="http://schemas.microsoft.com/office/powerpoint/2010/main" val="894896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C0A79-0D83-3A2C-A455-DE8DD3AA904D}"/>
              </a:ext>
            </a:extLst>
          </p:cNvPr>
          <p:cNvSpPr>
            <a:spLocks noGrp="1"/>
          </p:cNvSpPr>
          <p:nvPr>
            <p:ph type="title"/>
          </p:nvPr>
        </p:nvSpPr>
        <p:spPr>
          <a:xfrm>
            <a:off x="677334" y="294124"/>
            <a:ext cx="8596668" cy="522514"/>
          </a:xfrm>
        </p:spPr>
        <p:txBody>
          <a:bodyPr>
            <a:noAutofit/>
          </a:bodyPr>
          <a:lstStyle/>
          <a:p>
            <a:r>
              <a:rPr lang="en-IN" sz="2800" dirty="0"/>
              <a:t>05. </a:t>
            </a:r>
            <a:r>
              <a:rPr lang="en-US" sz="2800" dirty="0"/>
              <a:t>Overview of Data Driven Decision Making</a:t>
            </a:r>
            <a:br>
              <a:rPr lang="en-US" sz="2800" dirty="0">
                <a:solidFill>
                  <a:schemeClr val="tx1"/>
                </a:solidFill>
              </a:rPr>
            </a:br>
            <a:endParaRPr lang="en-IN" sz="2800" dirty="0"/>
          </a:p>
        </p:txBody>
      </p:sp>
      <p:sp>
        <p:nvSpPr>
          <p:cNvPr id="3" name="Content Placeholder 2">
            <a:extLst>
              <a:ext uri="{FF2B5EF4-FFF2-40B4-BE49-F238E27FC236}">
                <a16:creationId xmlns:a16="http://schemas.microsoft.com/office/drawing/2014/main" id="{62709E74-8F56-1078-02FD-9D9E2EC3FC76}"/>
              </a:ext>
            </a:extLst>
          </p:cNvPr>
          <p:cNvSpPr>
            <a:spLocks noGrp="1"/>
          </p:cNvSpPr>
          <p:nvPr>
            <p:ph idx="1"/>
          </p:nvPr>
        </p:nvSpPr>
        <p:spPr>
          <a:xfrm>
            <a:off x="677334" y="1050246"/>
            <a:ext cx="9685866" cy="5209040"/>
          </a:xfrm>
        </p:spPr>
        <p:txBody>
          <a:bodyPr>
            <a:noAutofit/>
          </a:bodyPr>
          <a:lstStyle/>
          <a:p>
            <a:pPr marL="0" indent="0">
              <a:buNone/>
            </a:pPr>
            <a:r>
              <a:rPr lang="en-US" sz="2200" dirty="0"/>
              <a:t>Steps:-</a:t>
            </a:r>
          </a:p>
          <a:p>
            <a:pPr marL="0" indent="0">
              <a:buNone/>
            </a:pPr>
            <a:r>
              <a:rPr lang="en-US" sz="2200" b="1" dirty="0"/>
              <a:t>a) Define the Problem: </a:t>
            </a:r>
            <a:r>
              <a:rPr lang="en-US" sz="2200" dirty="0"/>
              <a:t>Clearly identify the business issue or objective that needs a decision.</a:t>
            </a:r>
          </a:p>
          <a:p>
            <a:pPr marL="0" indent="0">
              <a:buNone/>
            </a:pPr>
            <a:r>
              <a:rPr lang="en-US" sz="2200" b="1" dirty="0"/>
              <a:t>b) Collect Data: </a:t>
            </a:r>
            <a:r>
              <a:rPr lang="en-US" sz="2200" dirty="0"/>
              <a:t>Gather relevant data from internal and external sources.</a:t>
            </a:r>
          </a:p>
          <a:p>
            <a:pPr marL="0" indent="0">
              <a:buNone/>
            </a:pPr>
            <a:r>
              <a:rPr lang="en-US" sz="2200" b="1" dirty="0"/>
              <a:t>c) Clean &amp; Organize Data: </a:t>
            </a:r>
            <a:r>
              <a:rPr lang="en-US" sz="2200" dirty="0"/>
              <a:t>Remove errors, duplicates, and arrange data properly for analysis.</a:t>
            </a:r>
          </a:p>
          <a:p>
            <a:pPr marL="0" indent="0">
              <a:buNone/>
            </a:pPr>
            <a:r>
              <a:rPr lang="en-US" sz="2200" b="1" dirty="0"/>
              <a:t>d) Analyze the Data: </a:t>
            </a:r>
            <a:r>
              <a:rPr lang="en-US" sz="2200" dirty="0"/>
              <a:t>Use tools like Excel, SQL, or BI dashboards to find trends and patterns.</a:t>
            </a:r>
          </a:p>
          <a:p>
            <a:pPr marL="0" indent="0">
              <a:buNone/>
            </a:pPr>
            <a:r>
              <a:rPr lang="en-US" sz="2200" b="1" dirty="0"/>
              <a:t>e) Interpret Results: </a:t>
            </a:r>
            <a:r>
              <a:rPr lang="en-US" sz="2200" dirty="0"/>
              <a:t>Understand what the data insights mean for the business.</a:t>
            </a:r>
          </a:p>
          <a:p>
            <a:pPr marL="0" indent="0">
              <a:buNone/>
            </a:pPr>
            <a:r>
              <a:rPr lang="en-US" sz="2200" b="1" dirty="0"/>
              <a:t>f) Make the Decision: </a:t>
            </a:r>
            <a:r>
              <a:rPr lang="en-US" sz="2200" dirty="0"/>
              <a:t>Take action based on the insights gained from the analysis.</a:t>
            </a:r>
          </a:p>
          <a:p>
            <a:pPr marL="0" indent="0">
              <a:buNone/>
            </a:pPr>
            <a:r>
              <a:rPr lang="en-US" sz="2200" b="1" dirty="0"/>
              <a:t>g) Monitor &amp; Review: </a:t>
            </a:r>
            <a:r>
              <a:rPr lang="en-US" sz="2200" dirty="0"/>
              <a:t>Track outcomes and adjust strategies if necessary.</a:t>
            </a:r>
          </a:p>
          <a:p>
            <a:pPr marL="0" indent="0">
              <a:buNone/>
            </a:pPr>
            <a:endParaRPr lang="en-IN" sz="2200" dirty="0"/>
          </a:p>
        </p:txBody>
      </p:sp>
    </p:spTree>
    <p:extLst>
      <p:ext uri="{BB962C8B-B14F-4D97-AF65-F5344CB8AC3E}">
        <p14:creationId xmlns:p14="http://schemas.microsoft.com/office/powerpoint/2010/main" val="1435313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18F51C-90EB-5109-AF95-74F6A83D6FB6}"/>
              </a:ext>
            </a:extLst>
          </p:cNvPr>
          <p:cNvSpPr>
            <a:spLocks noGrp="1"/>
          </p:cNvSpPr>
          <p:nvPr>
            <p:ph idx="1"/>
          </p:nvPr>
        </p:nvSpPr>
        <p:spPr>
          <a:xfrm>
            <a:off x="699106" y="394494"/>
            <a:ext cx="8564637" cy="6069012"/>
          </a:xfrm>
        </p:spPr>
        <p:txBody>
          <a:bodyPr>
            <a:noAutofit/>
          </a:bodyPr>
          <a:lstStyle/>
          <a:p>
            <a:pPr marL="0" indent="0">
              <a:buNone/>
            </a:pPr>
            <a:r>
              <a:rPr lang="en-US" sz="2200" b="1" dirty="0"/>
              <a:t>How It Works?</a:t>
            </a:r>
          </a:p>
          <a:p>
            <a:pPr>
              <a:buFont typeface="Wingdings" panose="05000000000000000000" pitchFamily="2" charset="2"/>
              <a:buChar char="Ø"/>
            </a:pPr>
            <a:r>
              <a:rPr lang="en-US" sz="2200" dirty="0"/>
              <a:t>Collect data from various sources (sales, customers, operations).</a:t>
            </a:r>
          </a:p>
          <a:p>
            <a:pPr>
              <a:buFont typeface="Wingdings" panose="05000000000000000000" pitchFamily="2" charset="2"/>
              <a:buChar char="Ø"/>
            </a:pPr>
            <a:r>
              <a:rPr lang="en-US" sz="2200" dirty="0"/>
              <a:t>Analyze the data using tools like Excel, BI dashboards, or analytics software.</a:t>
            </a:r>
          </a:p>
          <a:p>
            <a:pPr>
              <a:buFont typeface="Wingdings" panose="05000000000000000000" pitchFamily="2" charset="2"/>
              <a:buChar char="Ø"/>
            </a:pPr>
            <a:r>
              <a:rPr lang="en-US" sz="2200" dirty="0"/>
              <a:t>Interpret the results to identify trends and patterns.</a:t>
            </a:r>
          </a:p>
          <a:p>
            <a:pPr>
              <a:buFont typeface="Wingdings" panose="05000000000000000000" pitchFamily="2" charset="2"/>
              <a:buChar char="Ø"/>
            </a:pPr>
            <a:r>
              <a:rPr lang="en-US" sz="2200" dirty="0"/>
              <a:t>Make informed decisions based on insights.</a:t>
            </a:r>
          </a:p>
          <a:p>
            <a:pPr marL="0" indent="0">
              <a:buNone/>
            </a:pPr>
            <a:endParaRPr lang="en-US" sz="2200" b="1" dirty="0"/>
          </a:p>
          <a:p>
            <a:pPr marL="0" indent="0">
              <a:buNone/>
            </a:pPr>
            <a:r>
              <a:rPr lang="en-US" sz="2200" b="1" dirty="0"/>
              <a:t>Importance</a:t>
            </a:r>
          </a:p>
          <a:p>
            <a:pPr>
              <a:buFont typeface="Wingdings" panose="05000000000000000000" pitchFamily="2" charset="2"/>
              <a:buChar char="Ø"/>
            </a:pPr>
            <a:r>
              <a:rPr lang="en-US" sz="2200" dirty="0"/>
              <a:t>Reduces risks and uncertainty.</a:t>
            </a:r>
          </a:p>
          <a:p>
            <a:pPr>
              <a:buFont typeface="Wingdings" panose="05000000000000000000" pitchFamily="2" charset="2"/>
              <a:buChar char="Ø"/>
            </a:pPr>
            <a:r>
              <a:rPr lang="en-US" sz="2200" dirty="0"/>
              <a:t>Improves accuracy and efficiency.</a:t>
            </a:r>
          </a:p>
          <a:p>
            <a:pPr>
              <a:buFont typeface="Wingdings" panose="05000000000000000000" pitchFamily="2" charset="2"/>
              <a:buChar char="Ø"/>
            </a:pPr>
            <a:r>
              <a:rPr lang="en-US" sz="2200" dirty="0"/>
              <a:t>Helps identify opportunities and problems.</a:t>
            </a:r>
          </a:p>
          <a:p>
            <a:pPr>
              <a:buFont typeface="Wingdings" panose="05000000000000000000" pitchFamily="2" charset="2"/>
              <a:buChar char="Ø"/>
            </a:pPr>
            <a:r>
              <a:rPr lang="en-US" sz="2200" dirty="0"/>
              <a:t>Supports strategic planning and business growth.</a:t>
            </a:r>
          </a:p>
          <a:p>
            <a:pPr marL="0" indent="0">
              <a:buNone/>
            </a:pPr>
            <a:endParaRPr lang="en-IN" sz="2200" dirty="0"/>
          </a:p>
        </p:txBody>
      </p:sp>
    </p:spTree>
    <p:extLst>
      <p:ext uri="{BB962C8B-B14F-4D97-AF65-F5344CB8AC3E}">
        <p14:creationId xmlns:p14="http://schemas.microsoft.com/office/powerpoint/2010/main" val="1931839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9875-9D09-0029-39A3-C29717FD547C}"/>
              </a:ext>
            </a:extLst>
          </p:cNvPr>
          <p:cNvSpPr>
            <a:spLocks noGrp="1"/>
          </p:cNvSpPr>
          <p:nvPr>
            <p:ph type="title"/>
          </p:nvPr>
        </p:nvSpPr>
        <p:spPr>
          <a:xfrm>
            <a:off x="383419" y="250581"/>
            <a:ext cx="8596668" cy="587829"/>
          </a:xfrm>
        </p:spPr>
        <p:txBody>
          <a:bodyPr>
            <a:normAutofit/>
          </a:bodyPr>
          <a:lstStyle/>
          <a:p>
            <a:r>
              <a:rPr lang="en-IN" sz="2800" dirty="0"/>
              <a:t>06. </a:t>
            </a:r>
            <a:r>
              <a:rPr lang="en-US" sz="2800" dirty="0"/>
              <a:t>Case Discussions / Real Life Examples</a:t>
            </a:r>
            <a:endParaRPr lang="en-IN" sz="2800" dirty="0"/>
          </a:p>
        </p:txBody>
      </p:sp>
      <p:sp>
        <p:nvSpPr>
          <p:cNvPr id="3" name="Content Placeholder 2">
            <a:extLst>
              <a:ext uri="{FF2B5EF4-FFF2-40B4-BE49-F238E27FC236}">
                <a16:creationId xmlns:a16="http://schemas.microsoft.com/office/drawing/2014/main" id="{25E1038D-891B-BD72-32D6-BCD1CA9E1B0D}"/>
              </a:ext>
            </a:extLst>
          </p:cNvPr>
          <p:cNvSpPr>
            <a:spLocks noGrp="1"/>
          </p:cNvSpPr>
          <p:nvPr>
            <p:ph idx="1"/>
          </p:nvPr>
        </p:nvSpPr>
        <p:spPr>
          <a:xfrm>
            <a:off x="383419" y="1023257"/>
            <a:ext cx="10208382" cy="5475305"/>
          </a:xfrm>
        </p:spPr>
        <p:txBody>
          <a:bodyPr>
            <a:noAutofit/>
          </a:bodyPr>
          <a:lstStyle/>
          <a:p>
            <a:pPr marL="0" indent="0">
              <a:lnSpc>
                <a:spcPct val="150000"/>
              </a:lnSpc>
              <a:buNone/>
            </a:pPr>
            <a:r>
              <a:rPr lang="en-US" sz="2200" b="1" dirty="0"/>
              <a:t>Scenario Analysis</a:t>
            </a:r>
            <a:r>
              <a:rPr lang="en-US" sz="2200" dirty="0"/>
              <a:t> is a decision making technique used to evaluate possible future outcomes by analyzing different “what if” situations. It helps organizations understand risks, opportunities, and the impact of various assumptions before making decisions.</a:t>
            </a:r>
          </a:p>
          <a:p>
            <a:pPr marL="0" indent="0">
              <a:lnSpc>
                <a:spcPct val="150000"/>
              </a:lnSpc>
              <a:buNone/>
            </a:pPr>
            <a:r>
              <a:rPr lang="en-US" sz="2200" dirty="0"/>
              <a:t>How It Works?</a:t>
            </a:r>
          </a:p>
          <a:p>
            <a:pPr>
              <a:lnSpc>
                <a:spcPct val="150000"/>
              </a:lnSpc>
              <a:buFont typeface="Wingdings" panose="05000000000000000000" pitchFamily="2" charset="2"/>
              <a:buChar char="Ø"/>
            </a:pPr>
            <a:r>
              <a:rPr lang="en-US" sz="2200" dirty="0"/>
              <a:t>Identify a key decision or problem.</a:t>
            </a:r>
          </a:p>
          <a:p>
            <a:pPr>
              <a:lnSpc>
                <a:spcPct val="150000"/>
              </a:lnSpc>
              <a:buFont typeface="Wingdings" panose="05000000000000000000" pitchFamily="2" charset="2"/>
              <a:buChar char="Ø"/>
            </a:pPr>
            <a:r>
              <a:rPr lang="en-US" sz="2200" dirty="0"/>
              <a:t>Create different possible scenarios.</a:t>
            </a:r>
          </a:p>
          <a:p>
            <a:pPr>
              <a:lnSpc>
                <a:spcPct val="150000"/>
              </a:lnSpc>
              <a:buFont typeface="Wingdings" panose="05000000000000000000" pitchFamily="2" charset="2"/>
              <a:buChar char="Ø"/>
            </a:pPr>
            <a:r>
              <a:rPr lang="en-US" sz="2200" dirty="0"/>
              <a:t>Analyze the impact of each scenario.</a:t>
            </a:r>
          </a:p>
          <a:p>
            <a:pPr>
              <a:lnSpc>
                <a:spcPct val="150000"/>
              </a:lnSpc>
              <a:buFont typeface="Wingdings" panose="05000000000000000000" pitchFamily="2" charset="2"/>
              <a:buChar char="Ø"/>
            </a:pPr>
            <a:r>
              <a:rPr lang="en-US" sz="2200" dirty="0"/>
              <a:t>Choose the most suitable strategy.</a:t>
            </a:r>
          </a:p>
          <a:p>
            <a:pPr marL="0" indent="0">
              <a:lnSpc>
                <a:spcPct val="150000"/>
              </a:lnSpc>
              <a:buNone/>
            </a:pPr>
            <a:endParaRPr lang="en-IN" sz="2200" dirty="0"/>
          </a:p>
        </p:txBody>
      </p:sp>
    </p:spTree>
    <p:extLst>
      <p:ext uri="{BB962C8B-B14F-4D97-AF65-F5344CB8AC3E}">
        <p14:creationId xmlns:p14="http://schemas.microsoft.com/office/powerpoint/2010/main" val="2646134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A0FC13-DDA6-964D-9249-C4A816AA5812}"/>
              </a:ext>
            </a:extLst>
          </p:cNvPr>
          <p:cNvSpPr>
            <a:spLocks noGrp="1"/>
          </p:cNvSpPr>
          <p:nvPr>
            <p:ph idx="1"/>
          </p:nvPr>
        </p:nvSpPr>
        <p:spPr>
          <a:xfrm>
            <a:off x="840619" y="680132"/>
            <a:ext cx="9185124" cy="4523239"/>
          </a:xfrm>
        </p:spPr>
        <p:txBody>
          <a:bodyPr>
            <a:normAutofit/>
          </a:bodyPr>
          <a:lstStyle/>
          <a:p>
            <a:pPr marL="0" indent="0">
              <a:lnSpc>
                <a:spcPct val="150000"/>
              </a:lnSpc>
              <a:buNone/>
            </a:pPr>
            <a:r>
              <a:rPr lang="en-US" sz="2200" dirty="0"/>
              <a:t>Example :-</a:t>
            </a:r>
          </a:p>
          <a:p>
            <a:pPr marL="0" indent="0">
              <a:lnSpc>
                <a:spcPct val="150000"/>
              </a:lnSpc>
              <a:buNone/>
            </a:pPr>
            <a:r>
              <a:rPr lang="en-US" sz="2200" dirty="0"/>
              <a:t>A company plans to launch a new product.</a:t>
            </a:r>
          </a:p>
          <a:p>
            <a:pPr>
              <a:lnSpc>
                <a:spcPct val="150000"/>
              </a:lnSpc>
              <a:buFont typeface="Wingdings" panose="05000000000000000000" pitchFamily="2" charset="2"/>
              <a:buChar char="Ø"/>
            </a:pPr>
            <a:r>
              <a:rPr lang="en-US" sz="2200" b="1" dirty="0"/>
              <a:t>Best Case: </a:t>
            </a:r>
            <a:r>
              <a:rPr lang="en-US" sz="2200" dirty="0"/>
              <a:t>High demand - 30% profit increase</a:t>
            </a:r>
          </a:p>
          <a:p>
            <a:pPr>
              <a:lnSpc>
                <a:spcPct val="150000"/>
              </a:lnSpc>
              <a:buFont typeface="Wingdings" panose="05000000000000000000" pitchFamily="2" charset="2"/>
              <a:buChar char="Ø"/>
            </a:pPr>
            <a:r>
              <a:rPr lang="en-US" sz="2200" b="1" dirty="0"/>
              <a:t>Most Likely Case: </a:t>
            </a:r>
            <a:r>
              <a:rPr lang="en-US" sz="2200" dirty="0"/>
              <a:t>Moderate demand - 15% profit increase</a:t>
            </a:r>
          </a:p>
          <a:p>
            <a:pPr>
              <a:lnSpc>
                <a:spcPct val="150000"/>
              </a:lnSpc>
              <a:buFont typeface="Wingdings" panose="05000000000000000000" pitchFamily="2" charset="2"/>
              <a:buChar char="Ø"/>
            </a:pPr>
            <a:r>
              <a:rPr lang="en-US" sz="2200" b="1" dirty="0"/>
              <a:t>Worst Case: </a:t>
            </a:r>
            <a:r>
              <a:rPr lang="en-US" sz="2200" dirty="0"/>
              <a:t>Low demand - 5% loss</a:t>
            </a:r>
          </a:p>
          <a:p>
            <a:pPr marL="0" indent="0">
              <a:lnSpc>
                <a:spcPct val="150000"/>
              </a:lnSpc>
              <a:buNone/>
            </a:pPr>
            <a:r>
              <a:rPr lang="en-US" sz="2200" dirty="0"/>
              <a:t>By analyzing these scenarios, the company can prepare marketing budgets, manage risks, and plan inventory accordingly.</a:t>
            </a:r>
          </a:p>
          <a:p>
            <a:pPr marL="0" indent="0">
              <a:lnSpc>
                <a:spcPct val="150000"/>
              </a:lnSpc>
              <a:buNone/>
            </a:pPr>
            <a:endParaRPr lang="en-IN" sz="2200" dirty="0"/>
          </a:p>
        </p:txBody>
      </p:sp>
    </p:spTree>
    <p:extLst>
      <p:ext uri="{BB962C8B-B14F-4D97-AF65-F5344CB8AC3E}">
        <p14:creationId xmlns:p14="http://schemas.microsoft.com/office/powerpoint/2010/main" val="3774473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9BA9F-D761-54B5-A6A3-7CC170247EEB}"/>
              </a:ext>
            </a:extLst>
          </p:cNvPr>
          <p:cNvSpPr>
            <a:spLocks noGrp="1"/>
          </p:cNvSpPr>
          <p:nvPr>
            <p:ph type="title"/>
          </p:nvPr>
        </p:nvSpPr>
        <p:spPr>
          <a:xfrm>
            <a:off x="677334" y="370114"/>
            <a:ext cx="8596668" cy="653143"/>
          </a:xfrm>
        </p:spPr>
        <p:txBody>
          <a:bodyPr>
            <a:noAutofit/>
          </a:bodyPr>
          <a:lstStyle/>
          <a:p>
            <a:r>
              <a:rPr lang="en-IN" sz="2800" dirty="0"/>
              <a:t>07. </a:t>
            </a:r>
            <a:r>
              <a:rPr lang="en-US" sz="2800" dirty="0"/>
              <a:t>Introduction to Data Governance &amp; Data Ethics</a:t>
            </a:r>
            <a:br>
              <a:rPr lang="en-US" sz="2800" dirty="0">
                <a:solidFill>
                  <a:schemeClr val="tx1"/>
                </a:solidFill>
              </a:rPr>
            </a:br>
            <a:endParaRPr lang="en-IN" sz="2800" dirty="0"/>
          </a:p>
        </p:txBody>
      </p:sp>
      <p:sp>
        <p:nvSpPr>
          <p:cNvPr id="3" name="Content Placeholder 2">
            <a:extLst>
              <a:ext uri="{FF2B5EF4-FFF2-40B4-BE49-F238E27FC236}">
                <a16:creationId xmlns:a16="http://schemas.microsoft.com/office/drawing/2014/main" id="{BD899549-6A34-ECCE-0E00-178DAF7D40E2}"/>
              </a:ext>
            </a:extLst>
          </p:cNvPr>
          <p:cNvSpPr>
            <a:spLocks noGrp="1"/>
          </p:cNvSpPr>
          <p:nvPr>
            <p:ph idx="1"/>
          </p:nvPr>
        </p:nvSpPr>
        <p:spPr>
          <a:xfrm>
            <a:off x="677334" y="1235303"/>
            <a:ext cx="8596668" cy="3880773"/>
          </a:xfrm>
        </p:spPr>
        <p:txBody>
          <a:bodyPr>
            <a:normAutofit fontScale="92500" lnSpcReduction="20000"/>
          </a:bodyPr>
          <a:lstStyle/>
          <a:p>
            <a:pPr marL="0" indent="0">
              <a:lnSpc>
                <a:spcPct val="150000"/>
              </a:lnSpc>
              <a:buNone/>
            </a:pPr>
            <a:r>
              <a:rPr lang="en-US" sz="2200" b="1" dirty="0"/>
              <a:t>Data Governance </a:t>
            </a:r>
            <a:r>
              <a:rPr lang="en-US" sz="2200" dirty="0"/>
              <a:t>refers to the policies, processes, and standards used to manage data within an organization. It ensures that data is accurate, secure, consistent, and properly used. Data governance defines who can access data, how it is stored, and how it is maintained throughout its lifecycle.</a:t>
            </a:r>
          </a:p>
          <a:p>
            <a:pPr marL="0" indent="0">
              <a:lnSpc>
                <a:spcPct val="150000"/>
              </a:lnSpc>
              <a:buNone/>
            </a:pPr>
            <a:endParaRPr lang="en-US" sz="2200" dirty="0"/>
          </a:p>
          <a:p>
            <a:pPr marL="0" indent="0">
              <a:lnSpc>
                <a:spcPct val="150000"/>
              </a:lnSpc>
              <a:buNone/>
            </a:pPr>
            <a:r>
              <a:rPr lang="en-US" sz="2200" b="1" dirty="0"/>
              <a:t>Data Ethics </a:t>
            </a:r>
            <a:r>
              <a:rPr lang="en-US" sz="2200" dirty="0"/>
              <a:t>involves the moral principles and guidelines that govern how data is collected, shared, and used. It ensures that data is handled responsibly and fairly without harming individuals or violating privacy.</a:t>
            </a:r>
            <a:endParaRPr lang="en-IN" sz="2200" dirty="0"/>
          </a:p>
        </p:txBody>
      </p:sp>
    </p:spTree>
    <p:extLst>
      <p:ext uri="{BB962C8B-B14F-4D97-AF65-F5344CB8AC3E}">
        <p14:creationId xmlns:p14="http://schemas.microsoft.com/office/powerpoint/2010/main" val="1943273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1DC20-7B51-C845-92B7-F145B7BC8659}"/>
              </a:ext>
            </a:extLst>
          </p:cNvPr>
          <p:cNvSpPr>
            <a:spLocks noGrp="1"/>
          </p:cNvSpPr>
          <p:nvPr>
            <p:ph type="title"/>
          </p:nvPr>
        </p:nvSpPr>
        <p:spPr>
          <a:xfrm>
            <a:off x="677334" y="473738"/>
            <a:ext cx="8596668" cy="685800"/>
          </a:xfrm>
        </p:spPr>
        <p:txBody>
          <a:bodyPr>
            <a:normAutofit/>
          </a:bodyPr>
          <a:lstStyle/>
          <a:p>
            <a:r>
              <a:rPr lang="en-IN" sz="2800" dirty="0"/>
              <a:t>Ethical use of Data</a:t>
            </a:r>
          </a:p>
        </p:txBody>
      </p:sp>
      <p:sp>
        <p:nvSpPr>
          <p:cNvPr id="3" name="Content Placeholder 2">
            <a:extLst>
              <a:ext uri="{FF2B5EF4-FFF2-40B4-BE49-F238E27FC236}">
                <a16:creationId xmlns:a16="http://schemas.microsoft.com/office/drawing/2014/main" id="{DB7DF163-6570-F0E3-F168-BD2BF2DB326E}"/>
              </a:ext>
            </a:extLst>
          </p:cNvPr>
          <p:cNvSpPr>
            <a:spLocks noGrp="1"/>
          </p:cNvSpPr>
          <p:nvPr>
            <p:ph idx="1"/>
          </p:nvPr>
        </p:nvSpPr>
        <p:spPr>
          <a:xfrm>
            <a:off x="677334" y="1325328"/>
            <a:ext cx="8596668" cy="3880773"/>
          </a:xfrm>
        </p:spPr>
        <p:txBody>
          <a:bodyPr>
            <a:normAutofit fontScale="92500" lnSpcReduction="10000"/>
          </a:bodyPr>
          <a:lstStyle/>
          <a:p>
            <a:pPr marL="0" indent="0">
              <a:lnSpc>
                <a:spcPct val="150000"/>
              </a:lnSpc>
              <a:buNone/>
            </a:pPr>
            <a:r>
              <a:rPr lang="en-US" sz="2200" dirty="0"/>
              <a:t>Key Principles :- </a:t>
            </a:r>
          </a:p>
          <a:p>
            <a:pPr>
              <a:lnSpc>
                <a:spcPct val="150000"/>
              </a:lnSpc>
              <a:buFont typeface="Wingdings" panose="05000000000000000000" pitchFamily="2" charset="2"/>
              <a:buChar char="Ø"/>
            </a:pPr>
            <a:r>
              <a:rPr lang="en-US" sz="2200" b="1" dirty="0"/>
              <a:t>Consent: </a:t>
            </a:r>
            <a:r>
              <a:rPr lang="en-US" sz="2200" dirty="0"/>
              <a:t>Collect data only with the user’s permission.</a:t>
            </a:r>
          </a:p>
          <a:p>
            <a:pPr>
              <a:lnSpc>
                <a:spcPct val="150000"/>
              </a:lnSpc>
              <a:buFont typeface="Wingdings" panose="05000000000000000000" pitchFamily="2" charset="2"/>
              <a:buChar char="Ø"/>
            </a:pPr>
            <a:r>
              <a:rPr lang="en-US" sz="2200" b="1" dirty="0"/>
              <a:t>Privacy Protection: </a:t>
            </a:r>
            <a:r>
              <a:rPr lang="en-US" sz="2200" dirty="0"/>
              <a:t>Keep personal information secure and confidential.</a:t>
            </a:r>
          </a:p>
          <a:p>
            <a:pPr>
              <a:lnSpc>
                <a:spcPct val="150000"/>
              </a:lnSpc>
              <a:buFont typeface="Wingdings" panose="05000000000000000000" pitchFamily="2" charset="2"/>
              <a:buChar char="Ø"/>
            </a:pPr>
            <a:r>
              <a:rPr lang="en-US" sz="2200" b="1" dirty="0"/>
              <a:t>Transparency: </a:t>
            </a:r>
            <a:r>
              <a:rPr lang="en-US" sz="2200" dirty="0"/>
              <a:t>Clearly inform users how their data will be used.</a:t>
            </a:r>
          </a:p>
          <a:p>
            <a:pPr>
              <a:lnSpc>
                <a:spcPct val="150000"/>
              </a:lnSpc>
              <a:buFont typeface="Wingdings" panose="05000000000000000000" pitchFamily="2" charset="2"/>
              <a:buChar char="Ø"/>
            </a:pPr>
            <a:r>
              <a:rPr lang="en-US" sz="2200" b="1" dirty="0"/>
              <a:t>Fairness: </a:t>
            </a:r>
            <a:r>
              <a:rPr lang="en-US" sz="2200" dirty="0"/>
              <a:t>Avoid bias and discrimination in data analysis.</a:t>
            </a:r>
          </a:p>
          <a:p>
            <a:pPr>
              <a:lnSpc>
                <a:spcPct val="150000"/>
              </a:lnSpc>
              <a:buFont typeface="Wingdings" panose="05000000000000000000" pitchFamily="2" charset="2"/>
              <a:buChar char="Ø"/>
            </a:pPr>
            <a:r>
              <a:rPr lang="en-US" sz="2200" b="1" dirty="0"/>
              <a:t>Accountability: </a:t>
            </a:r>
            <a:r>
              <a:rPr lang="en-US" sz="2200" dirty="0"/>
              <a:t>Take responsibility for data misuse or breaches.</a:t>
            </a:r>
          </a:p>
          <a:p>
            <a:pPr marL="0" indent="0">
              <a:lnSpc>
                <a:spcPct val="150000"/>
              </a:lnSpc>
              <a:buNone/>
            </a:pPr>
            <a:endParaRPr lang="en-IN" sz="2200" dirty="0"/>
          </a:p>
        </p:txBody>
      </p:sp>
    </p:spTree>
    <p:extLst>
      <p:ext uri="{BB962C8B-B14F-4D97-AF65-F5344CB8AC3E}">
        <p14:creationId xmlns:p14="http://schemas.microsoft.com/office/powerpoint/2010/main" val="1339876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BD056-8B4A-0B1A-1AE3-C33D74BAB596}"/>
              </a:ext>
            </a:extLst>
          </p:cNvPr>
          <p:cNvSpPr>
            <a:spLocks noGrp="1"/>
          </p:cNvSpPr>
          <p:nvPr>
            <p:ph type="title"/>
          </p:nvPr>
        </p:nvSpPr>
        <p:spPr>
          <a:xfrm>
            <a:off x="677334" y="304800"/>
            <a:ext cx="8596668" cy="707571"/>
          </a:xfrm>
        </p:spPr>
        <p:txBody>
          <a:bodyPr>
            <a:normAutofit/>
          </a:bodyPr>
          <a:lstStyle/>
          <a:p>
            <a:r>
              <a:rPr lang="en-IN" sz="2800" dirty="0"/>
              <a:t>GDPR vs CCPA</a:t>
            </a:r>
          </a:p>
        </p:txBody>
      </p:sp>
      <p:sp>
        <p:nvSpPr>
          <p:cNvPr id="3" name="Content Placeholder 2">
            <a:extLst>
              <a:ext uri="{FF2B5EF4-FFF2-40B4-BE49-F238E27FC236}">
                <a16:creationId xmlns:a16="http://schemas.microsoft.com/office/drawing/2014/main" id="{73D0914F-4AC9-CC3E-B7E7-84B01DB8151E}"/>
              </a:ext>
            </a:extLst>
          </p:cNvPr>
          <p:cNvSpPr>
            <a:spLocks noGrp="1"/>
          </p:cNvSpPr>
          <p:nvPr>
            <p:ph idx="1"/>
          </p:nvPr>
        </p:nvSpPr>
        <p:spPr>
          <a:xfrm>
            <a:off x="677333" y="1257075"/>
            <a:ext cx="9054495" cy="5121954"/>
          </a:xfrm>
        </p:spPr>
        <p:txBody>
          <a:bodyPr>
            <a:normAutofit fontScale="85000" lnSpcReduction="20000"/>
          </a:bodyPr>
          <a:lstStyle/>
          <a:p>
            <a:pPr marL="0" indent="0">
              <a:buNone/>
            </a:pPr>
            <a:r>
              <a:rPr lang="en-IN" sz="2400" b="1" dirty="0"/>
              <a:t>GDPR :</a:t>
            </a:r>
          </a:p>
          <a:p>
            <a:pPr>
              <a:buFont typeface="Wingdings" panose="05000000000000000000" pitchFamily="2" charset="2"/>
              <a:buChar char="Ø"/>
            </a:pPr>
            <a:r>
              <a:rPr lang="en-IN" sz="2400" dirty="0"/>
              <a:t>General Data Protection Regulation.</a:t>
            </a:r>
          </a:p>
          <a:p>
            <a:pPr>
              <a:buFont typeface="Wingdings" panose="05000000000000000000" pitchFamily="2" charset="2"/>
              <a:buChar char="Ø"/>
            </a:pPr>
            <a:r>
              <a:rPr lang="en-US" sz="2400" dirty="0"/>
              <a:t>Applies in the European Union.</a:t>
            </a:r>
          </a:p>
          <a:p>
            <a:pPr>
              <a:buFont typeface="Wingdings" panose="05000000000000000000" pitchFamily="2" charset="2"/>
              <a:buChar char="Ø"/>
            </a:pPr>
            <a:r>
              <a:rPr lang="en-US" sz="2400" dirty="0"/>
              <a:t>Protects personal data of EU citizens.</a:t>
            </a:r>
          </a:p>
          <a:p>
            <a:pPr>
              <a:buFont typeface="Wingdings" panose="05000000000000000000" pitchFamily="2" charset="2"/>
              <a:buChar char="Ø"/>
            </a:pPr>
            <a:r>
              <a:rPr lang="en-US" sz="2400" dirty="0"/>
              <a:t>Requires clear user consent before collecting data.</a:t>
            </a:r>
          </a:p>
          <a:p>
            <a:pPr>
              <a:buFont typeface="Wingdings" panose="05000000000000000000" pitchFamily="2" charset="2"/>
              <a:buChar char="Ø"/>
            </a:pPr>
            <a:r>
              <a:rPr lang="en-IN" sz="2400" dirty="0"/>
              <a:t>Heavy penalties for non compliance.</a:t>
            </a:r>
          </a:p>
          <a:p>
            <a:pPr marL="0" indent="0">
              <a:buNone/>
            </a:pPr>
            <a:endParaRPr lang="en-IN" sz="2400" dirty="0"/>
          </a:p>
          <a:p>
            <a:pPr marL="0" indent="0">
              <a:buNone/>
            </a:pPr>
            <a:r>
              <a:rPr lang="en-IN" sz="2400" b="1" dirty="0"/>
              <a:t>CCPA :</a:t>
            </a:r>
          </a:p>
          <a:p>
            <a:pPr>
              <a:buFont typeface="Wingdings" panose="05000000000000000000" pitchFamily="2" charset="2"/>
              <a:buChar char="Ø"/>
            </a:pPr>
            <a:r>
              <a:rPr lang="en-IN" sz="2400" dirty="0"/>
              <a:t>California Consumer Privacy Act.</a:t>
            </a:r>
          </a:p>
          <a:p>
            <a:pPr>
              <a:buFont typeface="Wingdings" panose="05000000000000000000" pitchFamily="2" charset="2"/>
              <a:buChar char="Ø"/>
            </a:pPr>
            <a:r>
              <a:rPr lang="en-IN" sz="2400" dirty="0"/>
              <a:t>Applies in California, USA.</a:t>
            </a:r>
          </a:p>
          <a:p>
            <a:pPr>
              <a:buFont typeface="Wingdings" panose="05000000000000000000" pitchFamily="2" charset="2"/>
              <a:buChar char="Ø"/>
            </a:pPr>
            <a:r>
              <a:rPr lang="en-US" sz="2400" dirty="0"/>
              <a:t>Protects personal data of California residents.</a:t>
            </a:r>
          </a:p>
          <a:p>
            <a:pPr>
              <a:buFont typeface="Wingdings" panose="05000000000000000000" pitchFamily="2" charset="2"/>
              <a:buChar char="Ø"/>
            </a:pPr>
            <a:r>
              <a:rPr lang="en-US" sz="2400" dirty="0"/>
              <a:t>Gives users the right to opt out of data selling.</a:t>
            </a:r>
          </a:p>
          <a:p>
            <a:pPr>
              <a:buFont typeface="Wingdings" panose="05000000000000000000" pitchFamily="2" charset="2"/>
              <a:buChar char="Ø"/>
            </a:pPr>
            <a:r>
              <a:rPr lang="en-US" sz="2400" dirty="0"/>
              <a:t>Penalties for businesses violating consumer rights.</a:t>
            </a:r>
            <a:endParaRPr lang="en-IN" sz="2400" b="1" dirty="0"/>
          </a:p>
        </p:txBody>
      </p:sp>
    </p:spTree>
    <p:extLst>
      <p:ext uri="{BB962C8B-B14F-4D97-AF65-F5344CB8AC3E}">
        <p14:creationId xmlns:p14="http://schemas.microsoft.com/office/powerpoint/2010/main" val="1084168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3EFF8-21BA-F257-63D5-FE3AE60C3B66}"/>
              </a:ext>
            </a:extLst>
          </p:cNvPr>
          <p:cNvSpPr>
            <a:spLocks noGrp="1"/>
          </p:cNvSpPr>
          <p:nvPr>
            <p:ph type="title"/>
          </p:nvPr>
        </p:nvSpPr>
        <p:spPr>
          <a:xfrm>
            <a:off x="503162" y="609600"/>
            <a:ext cx="8596668" cy="1320800"/>
          </a:xfrm>
        </p:spPr>
        <p:txBody>
          <a:bodyPr>
            <a:normAutofit/>
          </a:bodyPr>
          <a:lstStyle/>
          <a:p>
            <a:r>
              <a:rPr lang="en-IN" sz="2800" dirty="0"/>
              <a:t>08. Conclusion</a:t>
            </a:r>
          </a:p>
        </p:txBody>
      </p:sp>
      <p:sp>
        <p:nvSpPr>
          <p:cNvPr id="3" name="Content Placeholder 2">
            <a:extLst>
              <a:ext uri="{FF2B5EF4-FFF2-40B4-BE49-F238E27FC236}">
                <a16:creationId xmlns:a16="http://schemas.microsoft.com/office/drawing/2014/main" id="{677FA7B0-EC29-28ED-411C-1633D9DFACB4}"/>
              </a:ext>
            </a:extLst>
          </p:cNvPr>
          <p:cNvSpPr>
            <a:spLocks noGrp="1"/>
          </p:cNvSpPr>
          <p:nvPr>
            <p:ph idx="1"/>
          </p:nvPr>
        </p:nvSpPr>
        <p:spPr>
          <a:xfrm>
            <a:off x="503162" y="1379756"/>
            <a:ext cx="9337523" cy="4759787"/>
          </a:xfrm>
        </p:spPr>
        <p:txBody>
          <a:bodyPr>
            <a:normAutofit fontScale="92500" lnSpcReduction="20000"/>
          </a:bodyPr>
          <a:lstStyle/>
          <a:p>
            <a:pPr>
              <a:lnSpc>
                <a:spcPct val="150000"/>
              </a:lnSpc>
              <a:buFont typeface="Wingdings" panose="05000000000000000000" pitchFamily="2" charset="2"/>
              <a:buChar char="Ø"/>
            </a:pPr>
            <a:r>
              <a:rPr lang="en-US" sz="2200" dirty="0"/>
              <a:t>Use of Information Technology leads to faster and more accurate business decisions.</a:t>
            </a:r>
          </a:p>
          <a:p>
            <a:pPr>
              <a:lnSpc>
                <a:spcPct val="150000"/>
              </a:lnSpc>
              <a:buFont typeface="Wingdings" panose="05000000000000000000" pitchFamily="2" charset="2"/>
              <a:buChar char="Ø"/>
            </a:pPr>
            <a:r>
              <a:rPr lang="en-US" sz="2200" dirty="0"/>
              <a:t>IT systems like ERP, CRM, and analytics tools improve efficiency and reduce operational errors.</a:t>
            </a:r>
          </a:p>
          <a:p>
            <a:pPr>
              <a:lnSpc>
                <a:spcPct val="150000"/>
              </a:lnSpc>
              <a:buFont typeface="Wingdings" panose="05000000000000000000" pitchFamily="2" charset="2"/>
              <a:buChar char="Ø"/>
            </a:pPr>
            <a:r>
              <a:rPr lang="en-US" sz="2200" dirty="0"/>
              <a:t>Data driven decision making minimizes risk compared to decisions based only on intuition.</a:t>
            </a:r>
          </a:p>
          <a:p>
            <a:pPr>
              <a:lnSpc>
                <a:spcPct val="150000"/>
              </a:lnSpc>
              <a:buFont typeface="Wingdings" panose="05000000000000000000" pitchFamily="2" charset="2"/>
              <a:buChar char="Ø"/>
            </a:pPr>
            <a:r>
              <a:rPr lang="en-US" sz="2200" dirty="0"/>
              <a:t>Technology enables better planning, forecasting, and competitive advantage.</a:t>
            </a:r>
          </a:p>
          <a:p>
            <a:pPr>
              <a:lnSpc>
                <a:spcPct val="150000"/>
              </a:lnSpc>
              <a:buFont typeface="Wingdings" panose="05000000000000000000" pitchFamily="2" charset="2"/>
              <a:buChar char="Ø"/>
            </a:pPr>
            <a:r>
              <a:rPr lang="en-US" sz="2200" dirty="0"/>
              <a:t>Organizations that effectively integrate IT with business strategy achieve sustainable long term growth.</a:t>
            </a:r>
          </a:p>
          <a:p>
            <a:pPr>
              <a:lnSpc>
                <a:spcPct val="150000"/>
              </a:lnSpc>
              <a:buFont typeface="Wingdings" panose="05000000000000000000" pitchFamily="2" charset="2"/>
              <a:buChar char="Ø"/>
            </a:pPr>
            <a:endParaRPr lang="en-IN" sz="2200" dirty="0"/>
          </a:p>
        </p:txBody>
      </p:sp>
    </p:spTree>
    <p:extLst>
      <p:ext uri="{BB962C8B-B14F-4D97-AF65-F5344CB8AC3E}">
        <p14:creationId xmlns:p14="http://schemas.microsoft.com/office/powerpoint/2010/main" val="29227047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iblet">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7145" cap="flat" cmpd="sng" algn="ctr">
          <a:solidFill>
            <a:schemeClr val="phClr"/>
          </a:solidFill>
          <a:prstDash val="solid"/>
        </a:ln>
        <a:ln w="58420" cap="flat" cmpd="thickThin" algn="ctr">
          <a:solidFill>
            <a:schemeClr val="phClr">
              <a:shade val="95000"/>
              <a:alpha val="50000"/>
              <a:satMod val="150000"/>
            </a:schemeClr>
          </a:solidFill>
          <a:prstDash val="solid"/>
        </a:ln>
      </a:lnStyleLst>
      <a:effectStyleLst>
        <a:effectStyle>
          <a:effectLst/>
        </a:effectStyle>
        <a:effectStyle>
          <a:effectLst>
            <a:outerShdw blurRad="50800" dist="38100" dir="2700000" rotWithShape="0">
              <a:srgbClr val="000000">
                <a:alpha val="60000"/>
              </a:srgbClr>
            </a:outerShdw>
          </a:effectLst>
          <a:scene3d>
            <a:camera prst="orthographicFront">
              <a:rot lat="0" lon="0" rev="0"/>
            </a:camera>
            <a:lightRig rig="flat" dir="tl"/>
          </a:scene3d>
          <a:sp3d prstMaterial="flat">
            <a:bevelT w="31750" h="63500" prst="riblet"/>
          </a:sp3d>
        </a:effectStyle>
        <a:effectStyle>
          <a:effectLst>
            <a:outerShdw blurRad="50800" dist="38100" dir="2700000" algn="ctr" rotWithShape="0">
              <a:srgbClr val="000000">
                <a:alpha val="60000"/>
              </a:srgbClr>
            </a:outerShdw>
          </a:effectLst>
          <a:scene3d>
            <a:camera prst="orthographicFront">
              <a:rot lat="0" lon="0" rev="0"/>
            </a:camera>
            <a:lightRig rig="flat" dir="tl"/>
          </a:scene3d>
          <a:sp3d prstMaterial="flat">
            <a:bevelT w="57150" h="114300" prst="riblet"/>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219</TotalTime>
  <Words>2066</Words>
  <Application>Microsoft Office PowerPoint</Application>
  <PresentationFormat>Widescreen</PresentationFormat>
  <Paragraphs>190</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ADLaM Display</vt:lpstr>
      <vt:lpstr>Arial</vt:lpstr>
      <vt:lpstr>Trebuchet MS</vt:lpstr>
      <vt:lpstr>Wingdings</vt:lpstr>
      <vt:lpstr>Wingdings 3</vt:lpstr>
      <vt:lpstr>Facet</vt:lpstr>
      <vt:lpstr>PowerPoint Presentation</vt:lpstr>
      <vt:lpstr>SL.NO.                        Context                                                                       Page NO.</vt:lpstr>
      <vt:lpstr>01. Introduction to IT and Business Systems </vt:lpstr>
      <vt:lpstr>PowerPoint Presentation</vt:lpstr>
      <vt:lpstr>Role of IT in Business Operations</vt:lpstr>
      <vt:lpstr>ERP vs CRM</vt:lpstr>
      <vt:lpstr>PowerPoint Presentation</vt:lpstr>
      <vt:lpstr>Business Strategy &amp; IT Strategy</vt:lpstr>
      <vt:lpstr>02. Data Types, Sources, and Lifecycle  </vt:lpstr>
      <vt:lpstr>PowerPoint Presentation</vt:lpstr>
      <vt:lpstr>Data Sources</vt:lpstr>
      <vt:lpstr>Data Collection Methods</vt:lpstr>
      <vt:lpstr>Data Lifecycle Management</vt:lpstr>
      <vt:lpstr>PowerPoint Presentation</vt:lpstr>
      <vt:lpstr>03. Introduction to Business Analyst Role </vt:lpstr>
      <vt:lpstr>PowerPoint Presentation</vt:lpstr>
      <vt:lpstr>Agile vs Waterfall Method </vt:lpstr>
      <vt:lpstr>Stakeholder Management</vt:lpstr>
      <vt:lpstr>04. Data vs. Information </vt:lpstr>
      <vt:lpstr>05. Overview of Data Driven Decision Making </vt:lpstr>
      <vt:lpstr>PowerPoint Presentation</vt:lpstr>
      <vt:lpstr>06. Case Discussions / Real Life Examples</vt:lpstr>
      <vt:lpstr>PowerPoint Presentation</vt:lpstr>
      <vt:lpstr>07. Introduction to Data Governance &amp; Data Ethics </vt:lpstr>
      <vt:lpstr>Ethical use of Data</vt:lpstr>
      <vt:lpstr>GDPR vs CCPA</vt:lpstr>
      <vt:lpstr>08.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PRIYANSHU DUTTA</dc:creator>
  <cp:lastModifiedBy>PRIYANSHU DUTTA</cp:lastModifiedBy>
  <cp:revision>1</cp:revision>
  <dcterms:created xsi:type="dcterms:W3CDTF">2026-02-20T16:32:21Z</dcterms:created>
  <dcterms:modified xsi:type="dcterms:W3CDTF">2026-02-20T20:11:30Z</dcterms:modified>
</cp:coreProperties>
</file>